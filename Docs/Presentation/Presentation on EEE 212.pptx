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91" r:id="rId2"/>
    <p:sldId id="299" r:id="rId3"/>
    <p:sldId id="257" r:id="rId4"/>
    <p:sldId id="294" r:id="rId5"/>
    <p:sldId id="295" r:id="rId6"/>
    <p:sldId id="301" r:id="rId7"/>
    <p:sldId id="300" r:id="rId8"/>
    <p:sldId id="302" r:id="rId9"/>
    <p:sldId id="292" r:id="rId10"/>
    <p:sldId id="259" r:id="rId11"/>
    <p:sldId id="303" r:id="rId12"/>
    <p:sldId id="258" r:id="rId13"/>
    <p:sldId id="261" r:id="rId14"/>
    <p:sldId id="262" r:id="rId15"/>
    <p:sldId id="304" r:id="rId16"/>
    <p:sldId id="305" r:id="rId17"/>
    <p:sldId id="293" r:id="rId18"/>
    <p:sldId id="306" r:id="rId19"/>
    <p:sldId id="256" r:id="rId20"/>
    <p:sldId id="298" r:id="rId21"/>
    <p:sldId id="297" r:id="rId22"/>
    <p:sldId id="307" r:id="rId23"/>
    <p:sldId id="308" r:id="rId24"/>
    <p:sldId id="30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A018F-A66D-4550-86ED-30631A433E80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8267E-E7E4-4E68-911B-EEFB57258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956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0C210457-D3D1-ABCA-D7BD-E559DEB6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4D85C748-993D-F065-FC06-ED169E4447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1CF01477-C709-0C46-2EED-08B1E0DD9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3256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4466BCBB-3B5D-508B-47C4-44A47259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FD26C026-271D-FA3C-989F-4E1BFAD7BC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17F57D66-7250-D572-342B-6500F7E81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281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6E4F20A8-9EDD-613B-AEE8-26AEB7BE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5D861053-AA4D-02EF-61E4-13896111E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8A8DFDCC-6AA9-EF63-DB49-9F8CE20E7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4554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B061AA1D-1EFB-4068-C5B7-D793A11EE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E7A8351C-7C57-EA6D-0ADD-CC9A51DDC5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76D89564-4ABC-38E5-E7BD-1E40AA77B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5610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5D6E503D-3C47-9702-492A-E27C8F602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858B3984-F4AE-7848-9DA9-D7D5E3F00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C694234E-1267-A13B-CA75-FB9B2BFFDA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970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32D2A898-E9B6-AFCA-8AEB-4A91C8689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D4FBAB2E-DF27-F524-9002-4EAF7CACF9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1572BA64-AC4E-5713-6FFF-C8EBA7BF0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2721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D28CDCDD-DDD5-99F7-2441-58BDDCCD9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E0B0D3A8-F00D-CBD4-7091-31032E2F7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FF35CB56-586F-FCB9-297C-540C548E0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2879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76BFB194-6DBB-89D3-EC1E-562BE793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C63B462C-4CB1-00D0-332A-7D4E1998B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AC091A64-23DA-39FC-AB82-D65CE1D86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8861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23A80B9A-3DB6-4CD4-660C-F07D28C4B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CDDF33B7-10AC-93B0-F159-A2055C1DA3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497EBD71-4035-5A52-46F1-C8DC095304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8615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1E828A66-800D-A478-54CC-C6AE3EE6E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8D572B03-1332-F69C-DC07-BE6A8E9D7C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FD54EE3E-50DF-E0CD-4646-8A4AFCBAF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420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B112A1C1-BC0C-C418-94D4-D418A510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6171F281-EFAC-E3E0-5F3C-1F7A507F7F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DDD8C310-521E-2374-0104-D69F80F758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29909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1BD89D17-8712-744B-FF9A-80E1BCAE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F392EACE-BC68-AE2A-4272-E45F7EF4A7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C9C806B6-EF0C-CDC3-7B33-83D93C2F7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20918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1CC97351-6CD5-3E6C-70C6-F15292C3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D25DFCBA-6A6B-FC89-1AEB-662B7F76B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C165DA23-03EA-0019-A666-0B8CA40DAE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936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257860C2-F124-D995-B6B7-6C9CA1964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>
            <a:extLst>
              <a:ext uri="{FF2B5EF4-FFF2-40B4-BE49-F238E27FC236}">
                <a16:creationId xmlns:a16="http://schemas.microsoft.com/office/drawing/2014/main" id="{F4F64C95-FC28-F8FD-F5E4-2CFE968BEE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>
            <a:extLst>
              <a:ext uri="{FF2B5EF4-FFF2-40B4-BE49-F238E27FC236}">
                <a16:creationId xmlns:a16="http://schemas.microsoft.com/office/drawing/2014/main" id="{23C118CB-A67B-E9ED-5DCE-BF437CC9FD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17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22933" y="1866517"/>
            <a:ext cx="9346400" cy="235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880000" y="4503884"/>
            <a:ext cx="6432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rgbClr val="22202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Google Shape;18;p2"/>
          <p:cNvSpPr/>
          <p:nvPr/>
        </p:nvSpPr>
        <p:spPr>
          <a:xfrm>
            <a:off x="274533" y="63949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9;p2"/>
          <p:cNvSpPr/>
          <p:nvPr/>
        </p:nvSpPr>
        <p:spPr>
          <a:xfrm>
            <a:off x="274533" y="216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2"/>
          <p:cNvSpPr/>
          <p:nvPr/>
        </p:nvSpPr>
        <p:spPr>
          <a:xfrm>
            <a:off x="11670667" y="63949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2"/>
          <p:cNvSpPr/>
          <p:nvPr/>
        </p:nvSpPr>
        <p:spPr>
          <a:xfrm>
            <a:off x="11670667" y="216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5441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2371400" y="3291380"/>
            <a:ext cx="7449200" cy="121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5321800" y="1630623"/>
            <a:ext cx="1548400" cy="1548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2374200" y="4739777"/>
            <a:ext cx="7443600" cy="48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" name="Google Shape;26;p3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27" name="Google Shape;27;p3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3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" name="Google Shape;33;p3"/>
          <p:cNvSpPr/>
          <p:nvPr/>
        </p:nvSpPr>
        <p:spPr>
          <a:xfrm>
            <a:off x="11657533" y="57286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3"/>
          <p:cNvSpPr/>
          <p:nvPr/>
        </p:nvSpPr>
        <p:spPr>
          <a:xfrm>
            <a:off x="274533" y="8781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123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955867" y="1402465"/>
            <a:ext cx="102720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marL="1219170" lvl="1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3"/>
            </a:lvl2pPr>
            <a:lvl3pPr marL="1828754" lvl="2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3"/>
            </a:lvl3pPr>
            <a:lvl4pPr marL="2438339" lvl="3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2133"/>
            </a:lvl4pPr>
            <a:lvl5pPr marL="3047924" lvl="4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3"/>
            </a:lvl5pPr>
            <a:lvl6pPr marL="3657509" lvl="5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3"/>
            </a:lvl6pPr>
            <a:lvl7pPr marL="4267093" lvl="6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2133"/>
            </a:lvl7pPr>
            <a:lvl8pPr marL="4876678" lvl="7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3"/>
            </a:lvl8pPr>
            <a:lvl9pPr marL="5486263" lvl="8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3"/>
            </a:lvl9pPr>
          </a:lstStyle>
          <a:p>
            <a:endParaRPr/>
          </a:p>
        </p:txBody>
      </p:sp>
      <p:grpSp>
        <p:nvGrpSpPr>
          <p:cNvPr id="38" name="Google Shape;38;p4"/>
          <p:cNvGrpSpPr/>
          <p:nvPr/>
        </p:nvGrpSpPr>
        <p:grpSpPr>
          <a:xfrm flipH="1"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39" name="Google Shape;39;p4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40;p4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4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4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4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44;p4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5" name="Google Shape;45;p4"/>
          <p:cNvSpPr/>
          <p:nvPr/>
        </p:nvSpPr>
        <p:spPr>
          <a:xfrm>
            <a:off x="274533" y="58869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" name="Google Shape;46;p4"/>
          <p:cNvSpPr/>
          <p:nvPr/>
        </p:nvSpPr>
        <p:spPr>
          <a:xfrm>
            <a:off x="11670667" y="724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29850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1204651" y="1673833"/>
            <a:ext cx="4712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667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title" idx="2"/>
          </p:nvPr>
        </p:nvSpPr>
        <p:spPr>
          <a:xfrm>
            <a:off x="6275823" y="1673833"/>
            <a:ext cx="4712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667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1"/>
          </p:nvPr>
        </p:nvSpPr>
        <p:spPr>
          <a:xfrm>
            <a:off x="6275815" y="2030865"/>
            <a:ext cx="4712000" cy="3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3"/>
          </p:nvPr>
        </p:nvSpPr>
        <p:spPr>
          <a:xfrm>
            <a:off x="1204177" y="2030865"/>
            <a:ext cx="4712800" cy="3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title" idx="4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 flipH="1"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54" name="Google Shape;54;p5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Google Shape;55;p5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5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5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5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5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5"/>
          <p:cNvSpPr/>
          <p:nvPr/>
        </p:nvSpPr>
        <p:spPr>
          <a:xfrm>
            <a:off x="11658667" y="7300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2750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63" name="Google Shape;63;p6"/>
          <p:cNvGrpSpPr/>
          <p:nvPr/>
        </p:nvGrpSpPr>
        <p:grpSpPr>
          <a:xfrm flipH="1"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64" name="Google Shape;64;p6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6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6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67;p6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68;p6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" name="Google Shape;69;p6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0" name="Google Shape;70;p6"/>
          <p:cNvSpPr/>
          <p:nvPr/>
        </p:nvSpPr>
        <p:spPr>
          <a:xfrm>
            <a:off x="286533" y="58857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6"/>
          <p:cNvSpPr/>
          <p:nvPr/>
        </p:nvSpPr>
        <p:spPr>
          <a:xfrm>
            <a:off x="11658667" y="7300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5530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>
            <a:spLocks noGrp="1"/>
          </p:cNvSpPr>
          <p:nvPr>
            <p:ph type="body" idx="1"/>
          </p:nvPr>
        </p:nvSpPr>
        <p:spPr>
          <a:xfrm>
            <a:off x="1627000" y="1598733"/>
            <a:ext cx="8938000" cy="42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ind Light"/>
              <a:buChar char="●"/>
              <a:defRPr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Hind Light"/>
              <a:buChar char="○"/>
              <a:defRPr/>
            </a:lvl2pPr>
            <a:lvl3pPr marL="1828754" lvl="2" indent="-4317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2438339" lvl="3" indent="-431789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4876678" lvl="7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7"/>
          <p:cNvGrpSpPr/>
          <p:nvPr/>
        </p:nvGrpSpPr>
        <p:grpSpPr>
          <a:xfrm flipH="1"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76" name="Google Shape;76;p7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7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7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7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80;p7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7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2" name="Google Shape;82;p7"/>
          <p:cNvSpPr/>
          <p:nvPr/>
        </p:nvSpPr>
        <p:spPr>
          <a:xfrm>
            <a:off x="274533" y="58857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" name="Google Shape;83;p7"/>
          <p:cNvSpPr/>
          <p:nvPr/>
        </p:nvSpPr>
        <p:spPr>
          <a:xfrm>
            <a:off x="11658667" y="7300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9006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>
            <a:spLocks noGrp="1"/>
          </p:cNvSpPr>
          <p:nvPr>
            <p:ph type="title"/>
          </p:nvPr>
        </p:nvSpPr>
        <p:spPr>
          <a:xfrm>
            <a:off x="2988600" y="2017800"/>
            <a:ext cx="6214800" cy="28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277384" y="216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87;p8"/>
          <p:cNvSpPr/>
          <p:nvPr/>
        </p:nvSpPr>
        <p:spPr>
          <a:xfrm>
            <a:off x="11671217" y="63688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8" name="Google Shape;88;p8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89" name="Google Shape;89;p8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8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8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8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8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52821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9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97" name="Google Shape;97;p9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9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9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9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9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9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1492600" y="1987184"/>
            <a:ext cx="9206800" cy="138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8666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9"/>
          <p:cNvSpPr txBox="1">
            <a:spLocks noGrp="1"/>
          </p:cNvSpPr>
          <p:nvPr>
            <p:ph type="subTitle" idx="1"/>
          </p:nvPr>
        </p:nvSpPr>
        <p:spPr>
          <a:xfrm>
            <a:off x="1492600" y="3414164"/>
            <a:ext cx="92068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274533" y="63949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106;p9"/>
          <p:cNvSpPr/>
          <p:nvPr/>
        </p:nvSpPr>
        <p:spPr>
          <a:xfrm>
            <a:off x="274533" y="216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107;p9"/>
          <p:cNvSpPr/>
          <p:nvPr/>
        </p:nvSpPr>
        <p:spPr>
          <a:xfrm>
            <a:off x="11670667" y="63949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108;p9"/>
          <p:cNvSpPr/>
          <p:nvPr/>
        </p:nvSpPr>
        <p:spPr>
          <a:xfrm>
            <a:off x="11670667" y="216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0608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0"/>
          <p:cNvSpPr txBox="1">
            <a:spLocks noGrp="1"/>
          </p:cNvSpPr>
          <p:nvPr>
            <p:ph type="title"/>
          </p:nvPr>
        </p:nvSpPr>
        <p:spPr>
          <a:xfrm>
            <a:off x="6754133" y="4790567"/>
            <a:ext cx="4486800" cy="1342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583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>
            <a:spLocks noGrp="1"/>
          </p:cNvSpPr>
          <p:nvPr>
            <p:ph type="title" hasCustomPrompt="1"/>
          </p:nvPr>
        </p:nvSpPr>
        <p:spPr>
          <a:xfrm>
            <a:off x="1331400" y="1968845"/>
            <a:ext cx="9529200" cy="18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666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14" name="Google Shape;114;p11"/>
          <p:cNvSpPr txBox="1">
            <a:spLocks noGrp="1"/>
          </p:cNvSpPr>
          <p:nvPr>
            <p:ph type="subTitle" idx="1"/>
          </p:nvPr>
        </p:nvSpPr>
        <p:spPr>
          <a:xfrm>
            <a:off x="1329000" y="4401555"/>
            <a:ext cx="9534000" cy="48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grpSp>
        <p:nvGrpSpPr>
          <p:cNvPr id="115" name="Google Shape;115;p11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116" name="Google Shape;116;p11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p11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1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11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11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11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2" name="Google Shape;122;p11"/>
          <p:cNvSpPr/>
          <p:nvPr/>
        </p:nvSpPr>
        <p:spPr>
          <a:xfrm>
            <a:off x="11657516" y="63580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" name="Google Shape;123;p11"/>
          <p:cNvSpPr/>
          <p:nvPr/>
        </p:nvSpPr>
        <p:spPr>
          <a:xfrm>
            <a:off x="317939" y="216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89436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1524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>
            <a:spLocks noGrp="1"/>
          </p:cNvSpPr>
          <p:nvPr>
            <p:ph type="title"/>
          </p:nvPr>
        </p:nvSpPr>
        <p:spPr>
          <a:xfrm>
            <a:off x="2652727" y="1660361"/>
            <a:ext cx="3250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1"/>
          </p:nvPr>
        </p:nvSpPr>
        <p:spPr>
          <a:xfrm>
            <a:off x="2652727" y="1953589"/>
            <a:ext cx="3250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2"/>
          </p:nvPr>
        </p:nvSpPr>
        <p:spPr>
          <a:xfrm flipH="1">
            <a:off x="7408860" y="1660349"/>
            <a:ext cx="3250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3"/>
          </p:nvPr>
        </p:nvSpPr>
        <p:spPr>
          <a:xfrm flipH="1">
            <a:off x="7408844" y="1953577"/>
            <a:ext cx="3250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4" hasCustomPrompt="1"/>
          </p:nvPr>
        </p:nvSpPr>
        <p:spPr>
          <a:xfrm>
            <a:off x="1548940" y="1670733"/>
            <a:ext cx="1012000" cy="1012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5" hasCustomPrompt="1"/>
          </p:nvPr>
        </p:nvSpPr>
        <p:spPr>
          <a:xfrm flipH="1">
            <a:off x="6292973" y="1670733"/>
            <a:ext cx="1012000" cy="1012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 idx="6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7"/>
          </p:nvPr>
        </p:nvSpPr>
        <p:spPr>
          <a:xfrm>
            <a:off x="2652727" y="3099600"/>
            <a:ext cx="3250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8"/>
          </p:nvPr>
        </p:nvSpPr>
        <p:spPr>
          <a:xfrm>
            <a:off x="2652727" y="3390301"/>
            <a:ext cx="32504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9"/>
          </p:nvPr>
        </p:nvSpPr>
        <p:spPr>
          <a:xfrm flipH="1">
            <a:off x="7408860" y="3102255"/>
            <a:ext cx="3250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3"/>
          </p:nvPr>
        </p:nvSpPr>
        <p:spPr>
          <a:xfrm flipH="1">
            <a:off x="7408844" y="3390301"/>
            <a:ext cx="3250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14" hasCustomPrompt="1"/>
          </p:nvPr>
        </p:nvSpPr>
        <p:spPr>
          <a:xfrm>
            <a:off x="1548940" y="3099600"/>
            <a:ext cx="1012000" cy="1012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15" hasCustomPrompt="1"/>
          </p:nvPr>
        </p:nvSpPr>
        <p:spPr>
          <a:xfrm flipH="1">
            <a:off x="6292973" y="3099600"/>
            <a:ext cx="1012000" cy="1012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16"/>
          </p:nvPr>
        </p:nvSpPr>
        <p:spPr>
          <a:xfrm>
            <a:off x="2652727" y="4524653"/>
            <a:ext cx="3250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17"/>
          </p:nvPr>
        </p:nvSpPr>
        <p:spPr>
          <a:xfrm>
            <a:off x="2652727" y="4812699"/>
            <a:ext cx="32504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18"/>
          </p:nvPr>
        </p:nvSpPr>
        <p:spPr>
          <a:xfrm flipH="1">
            <a:off x="7408860" y="4524655"/>
            <a:ext cx="3250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19"/>
          </p:nvPr>
        </p:nvSpPr>
        <p:spPr>
          <a:xfrm flipH="1">
            <a:off x="7408844" y="4812701"/>
            <a:ext cx="3250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title" idx="20" hasCustomPrompt="1"/>
          </p:nvPr>
        </p:nvSpPr>
        <p:spPr>
          <a:xfrm>
            <a:off x="1548940" y="4528467"/>
            <a:ext cx="1012000" cy="1012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4" name="Google Shape;144;p13"/>
          <p:cNvSpPr txBox="1">
            <a:spLocks noGrp="1"/>
          </p:cNvSpPr>
          <p:nvPr>
            <p:ph type="title" idx="21" hasCustomPrompt="1"/>
          </p:nvPr>
        </p:nvSpPr>
        <p:spPr>
          <a:xfrm flipH="1">
            <a:off x="6292973" y="4528467"/>
            <a:ext cx="1012000" cy="1012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5" name="Google Shape;145;p13"/>
          <p:cNvSpPr/>
          <p:nvPr/>
        </p:nvSpPr>
        <p:spPr>
          <a:xfrm rot="10800000" flipH="1">
            <a:off x="274533" y="724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" name="Google Shape;146;p13"/>
          <p:cNvSpPr/>
          <p:nvPr/>
        </p:nvSpPr>
        <p:spPr>
          <a:xfrm rot="10800000" flipH="1">
            <a:off x="11670667" y="58869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7" name="Google Shape;147;p13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148" name="Google Shape;148;p13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13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13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" name="Google Shape;151;p13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" name="Google Shape;152;p13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" name="Google Shape;153;p13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292027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>
            <a:spLocks noGrp="1"/>
          </p:cNvSpPr>
          <p:nvPr>
            <p:ph type="title"/>
          </p:nvPr>
        </p:nvSpPr>
        <p:spPr>
          <a:xfrm>
            <a:off x="1476279" y="4132389"/>
            <a:ext cx="92396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4"/>
          <p:cNvSpPr txBox="1">
            <a:spLocks noGrp="1"/>
          </p:cNvSpPr>
          <p:nvPr>
            <p:ph type="subTitle" idx="1"/>
          </p:nvPr>
        </p:nvSpPr>
        <p:spPr>
          <a:xfrm>
            <a:off x="1474600" y="1886044"/>
            <a:ext cx="9242800" cy="21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274533" y="57178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8" name="Google Shape;158;p14"/>
          <p:cNvSpPr/>
          <p:nvPr/>
        </p:nvSpPr>
        <p:spPr>
          <a:xfrm>
            <a:off x="11646667" y="8781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9" name="Google Shape;159;p14"/>
          <p:cNvGrpSpPr/>
          <p:nvPr/>
        </p:nvGrpSpPr>
        <p:grpSpPr>
          <a:xfrm rot="10800000" flipH="1"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160" name="Google Shape;160;p14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" name="Google Shape;161;p14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" name="Google Shape;162;p14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Google Shape;163;p14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" name="Google Shape;164;p14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" name="Google Shape;165;p14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927941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>
            <a:spLocks noGrp="1"/>
          </p:cNvSpPr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68" name="Google Shape;168;p15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169" name="Google Shape;169;p15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15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15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" name="Google Shape;172;p15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" name="Google Shape;173;p15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" name="Google Shape;174;p15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5" name="Google Shape;175;p15"/>
          <p:cNvSpPr/>
          <p:nvPr/>
        </p:nvSpPr>
        <p:spPr>
          <a:xfrm>
            <a:off x="11669517" y="58857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6" name="Google Shape;176;p15"/>
          <p:cNvSpPr/>
          <p:nvPr/>
        </p:nvSpPr>
        <p:spPr>
          <a:xfrm>
            <a:off x="275684" y="7300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74101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 and text 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>
            <a:spLocks noGrp="1"/>
          </p:cNvSpPr>
          <p:nvPr>
            <p:ph type="title"/>
          </p:nvPr>
        </p:nvSpPr>
        <p:spPr>
          <a:xfrm>
            <a:off x="1263544" y="2336067"/>
            <a:ext cx="35512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subTitle" idx="1"/>
          </p:nvPr>
        </p:nvSpPr>
        <p:spPr>
          <a:xfrm>
            <a:off x="1264156" y="3067667"/>
            <a:ext cx="3550000" cy="14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0" name="Google Shape;180;p16"/>
          <p:cNvGrpSpPr/>
          <p:nvPr/>
        </p:nvGrpSpPr>
        <p:grpSpPr>
          <a:xfrm flipH="1"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181" name="Google Shape;181;p16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16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16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16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16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16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7" name="Google Shape;187;p16"/>
          <p:cNvSpPr/>
          <p:nvPr/>
        </p:nvSpPr>
        <p:spPr>
          <a:xfrm>
            <a:off x="296233" y="216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8" name="Google Shape;188;p16"/>
          <p:cNvSpPr/>
          <p:nvPr/>
        </p:nvSpPr>
        <p:spPr>
          <a:xfrm>
            <a:off x="11657500" y="8781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45018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>
            <a:spLocks noGrp="1"/>
          </p:cNvSpPr>
          <p:nvPr>
            <p:ph type="title"/>
          </p:nvPr>
        </p:nvSpPr>
        <p:spPr>
          <a:xfrm>
            <a:off x="1504869" y="1702833"/>
            <a:ext cx="4816800" cy="192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subTitle" idx="1"/>
          </p:nvPr>
        </p:nvSpPr>
        <p:spPr>
          <a:xfrm>
            <a:off x="1505867" y="3753167"/>
            <a:ext cx="4814800" cy="14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7"/>
          <p:cNvSpPr>
            <a:spLocks noGrp="1"/>
          </p:cNvSpPr>
          <p:nvPr>
            <p:ph type="pic" idx="2"/>
          </p:nvPr>
        </p:nvSpPr>
        <p:spPr>
          <a:xfrm>
            <a:off x="6807931" y="1489400"/>
            <a:ext cx="3879200" cy="3879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7"/>
          <p:cNvSpPr/>
          <p:nvPr/>
        </p:nvSpPr>
        <p:spPr>
          <a:xfrm>
            <a:off x="270251" y="8890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4" name="Google Shape;194;p17"/>
          <p:cNvSpPr/>
          <p:nvPr/>
        </p:nvSpPr>
        <p:spPr>
          <a:xfrm>
            <a:off x="11674951" y="57503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5" name="Google Shape;195;p17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196" name="Google Shape;196;p17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17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17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17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17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17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472312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>
            <a:spLocks noGrp="1"/>
          </p:cNvSpPr>
          <p:nvPr>
            <p:ph type="body" idx="1"/>
          </p:nvPr>
        </p:nvSpPr>
        <p:spPr>
          <a:xfrm>
            <a:off x="3061800" y="1784700"/>
            <a:ext cx="6068400" cy="32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 Light"/>
              <a:buChar char="●"/>
              <a:defRPr/>
            </a:lvl1pPr>
            <a:lvl2pPr marL="1219170" lvl="1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828754" lvl="2" indent="-4317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2438339" lvl="3" indent="-431789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4876678" lvl="7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04" name="Google Shape;204;p18"/>
          <p:cNvSpPr txBox="1">
            <a:spLocks noGrp="1"/>
          </p:cNvSpPr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05" name="Google Shape;205;p18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206" name="Google Shape;206;p18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18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18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18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18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18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2" name="Google Shape;212;p18"/>
          <p:cNvSpPr/>
          <p:nvPr/>
        </p:nvSpPr>
        <p:spPr>
          <a:xfrm flipH="1">
            <a:off x="11658667" y="58857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" name="Google Shape;213;p18"/>
          <p:cNvSpPr/>
          <p:nvPr/>
        </p:nvSpPr>
        <p:spPr>
          <a:xfrm flipH="1">
            <a:off x="286533" y="7300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820724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 txBox="1">
            <a:spLocks noGrp="1"/>
          </p:cNvSpPr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ubTitle" idx="1"/>
          </p:nvPr>
        </p:nvSpPr>
        <p:spPr>
          <a:xfrm>
            <a:off x="962505" y="4068400"/>
            <a:ext cx="3335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subTitle" idx="2"/>
          </p:nvPr>
        </p:nvSpPr>
        <p:spPr>
          <a:xfrm>
            <a:off x="4428200" y="4068400"/>
            <a:ext cx="3335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3"/>
          </p:nvPr>
        </p:nvSpPr>
        <p:spPr>
          <a:xfrm>
            <a:off x="7893895" y="4068400"/>
            <a:ext cx="3335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title" idx="4"/>
          </p:nvPr>
        </p:nvSpPr>
        <p:spPr>
          <a:xfrm>
            <a:off x="959905" y="3674192"/>
            <a:ext cx="33408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title" idx="5"/>
          </p:nvPr>
        </p:nvSpPr>
        <p:spPr>
          <a:xfrm>
            <a:off x="4425600" y="3674192"/>
            <a:ext cx="33408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title" idx="6"/>
          </p:nvPr>
        </p:nvSpPr>
        <p:spPr>
          <a:xfrm>
            <a:off x="7891295" y="3674192"/>
            <a:ext cx="33408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22" name="Google Shape;222;p19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223" name="Google Shape;223;p19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" name="Google Shape;224;p19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19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19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19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" name="Google Shape;228;p19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9" name="Google Shape;229;p19"/>
          <p:cNvSpPr/>
          <p:nvPr/>
        </p:nvSpPr>
        <p:spPr>
          <a:xfrm>
            <a:off x="11653251" y="58857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0" name="Google Shape;230;p19"/>
          <p:cNvSpPr/>
          <p:nvPr/>
        </p:nvSpPr>
        <p:spPr>
          <a:xfrm>
            <a:off x="291984" y="7300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53722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>
            <a:spLocks noGrp="1"/>
          </p:cNvSpPr>
          <p:nvPr>
            <p:ph type="body" idx="1"/>
          </p:nvPr>
        </p:nvSpPr>
        <p:spPr>
          <a:xfrm>
            <a:off x="1059933" y="1492067"/>
            <a:ext cx="4999200" cy="46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body" idx="2"/>
          </p:nvPr>
        </p:nvSpPr>
        <p:spPr>
          <a:xfrm>
            <a:off x="6132867" y="1492080"/>
            <a:ext cx="4999200" cy="46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34" name="Google Shape;234;p20"/>
          <p:cNvSpPr txBox="1">
            <a:spLocks noGrp="1"/>
          </p:cNvSpPr>
          <p:nvPr>
            <p:ph type="title"/>
          </p:nvPr>
        </p:nvSpPr>
        <p:spPr>
          <a:xfrm>
            <a:off x="957000" y="487680"/>
            <a:ext cx="10278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11646667" y="58857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36" name="Google Shape;236;p20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237" name="Google Shape;237;p20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20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20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20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20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20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3" name="Google Shape;243;p20"/>
          <p:cNvSpPr/>
          <p:nvPr/>
        </p:nvSpPr>
        <p:spPr>
          <a:xfrm flipH="1">
            <a:off x="286533" y="7300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20964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>
            <a:spLocks noGrp="1"/>
          </p:cNvSpPr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1"/>
          <p:cNvSpPr txBox="1">
            <a:spLocks noGrp="1"/>
          </p:cNvSpPr>
          <p:nvPr>
            <p:ph type="subTitle" idx="1"/>
          </p:nvPr>
        </p:nvSpPr>
        <p:spPr>
          <a:xfrm>
            <a:off x="4129603" y="2076628"/>
            <a:ext cx="5140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47" name="Google Shape;247;p21"/>
          <p:cNvSpPr txBox="1">
            <a:spLocks noGrp="1"/>
          </p:cNvSpPr>
          <p:nvPr>
            <p:ph type="subTitle" idx="2"/>
          </p:nvPr>
        </p:nvSpPr>
        <p:spPr>
          <a:xfrm>
            <a:off x="4129603" y="3503228"/>
            <a:ext cx="5140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48" name="Google Shape;248;p21"/>
          <p:cNvSpPr txBox="1">
            <a:spLocks noGrp="1"/>
          </p:cNvSpPr>
          <p:nvPr>
            <p:ph type="subTitle" idx="3"/>
          </p:nvPr>
        </p:nvSpPr>
        <p:spPr>
          <a:xfrm>
            <a:off x="4129603" y="4933820"/>
            <a:ext cx="5140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49" name="Google Shape;249;p21"/>
          <p:cNvSpPr txBox="1">
            <a:spLocks noGrp="1"/>
          </p:cNvSpPr>
          <p:nvPr>
            <p:ph type="title" idx="4"/>
          </p:nvPr>
        </p:nvSpPr>
        <p:spPr>
          <a:xfrm>
            <a:off x="4129603" y="1792037"/>
            <a:ext cx="5148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21"/>
          <p:cNvSpPr txBox="1">
            <a:spLocks noGrp="1"/>
          </p:cNvSpPr>
          <p:nvPr>
            <p:ph type="title" idx="5"/>
          </p:nvPr>
        </p:nvSpPr>
        <p:spPr>
          <a:xfrm>
            <a:off x="4129603" y="3218637"/>
            <a:ext cx="5148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21"/>
          <p:cNvSpPr txBox="1">
            <a:spLocks noGrp="1"/>
          </p:cNvSpPr>
          <p:nvPr>
            <p:ph type="title" idx="6"/>
          </p:nvPr>
        </p:nvSpPr>
        <p:spPr>
          <a:xfrm>
            <a:off x="4129603" y="4649229"/>
            <a:ext cx="5148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52" name="Google Shape;252;p21"/>
          <p:cNvGrpSpPr/>
          <p:nvPr/>
        </p:nvGrpSpPr>
        <p:grpSpPr>
          <a:xfrm flipH="1"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253" name="Google Shape;253;p21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21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1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21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" name="Google Shape;257;p21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" name="Google Shape;258;p21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9" name="Google Shape;259;p21"/>
          <p:cNvSpPr/>
          <p:nvPr/>
        </p:nvSpPr>
        <p:spPr>
          <a:xfrm>
            <a:off x="274533" y="58869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0" name="Google Shape;260;p21"/>
          <p:cNvSpPr/>
          <p:nvPr/>
        </p:nvSpPr>
        <p:spPr>
          <a:xfrm>
            <a:off x="11670667" y="724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66745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>
            <a:spLocks noGrp="1"/>
          </p:cNvSpPr>
          <p:nvPr>
            <p:ph type="title"/>
          </p:nvPr>
        </p:nvSpPr>
        <p:spPr>
          <a:xfrm>
            <a:off x="3103571" y="2137876"/>
            <a:ext cx="2637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22"/>
          <p:cNvSpPr txBox="1">
            <a:spLocks noGrp="1"/>
          </p:cNvSpPr>
          <p:nvPr>
            <p:ph type="subTitle" idx="1"/>
          </p:nvPr>
        </p:nvSpPr>
        <p:spPr>
          <a:xfrm>
            <a:off x="3103571" y="2419769"/>
            <a:ext cx="26376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2"/>
          <p:cNvSpPr txBox="1">
            <a:spLocks noGrp="1"/>
          </p:cNvSpPr>
          <p:nvPr>
            <p:ph type="title" idx="2"/>
          </p:nvPr>
        </p:nvSpPr>
        <p:spPr>
          <a:xfrm>
            <a:off x="7578079" y="2137876"/>
            <a:ext cx="2637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22"/>
          <p:cNvSpPr txBox="1">
            <a:spLocks noGrp="1"/>
          </p:cNvSpPr>
          <p:nvPr>
            <p:ph type="subTitle" idx="3"/>
          </p:nvPr>
        </p:nvSpPr>
        <p:spPr>
          <a:xfrm>
            <a:off x="7578079" y="2419769"/>
            <a:ext cx="26376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2"/>
          <p:cNvSpPr txBox="1">
            <a:spLocks noGrp="1"/>
          </p:cNvSpPr>
          <p:nvPr>
            <p:ph type="title" idx="4"/>
          </p:nvPr>
        </p:nvSpPr>
        <p:spPr>
          <a:xfrm>
            <a:off x="3103571" y="4171545"/>
            <a:ext cx="2633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7" name="Google Shape;267;p22"/>
          <p:cNvSpPr txBox="1">
            <a:spLocks noGrp="1"/>
          </p:cNvSpPr>
          <p:nvPr>
            <p:ph type="subTitle" idx="5"/>
          </p:nvPr>
        </p:nvSpPr>
        <p:spPr>
          <a:xfrm>
            <a:off x="3103571" y="4453439"/>
            <a:ext cx="26376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2"/>
          <p:cNvSpPr txBox="1">
            <a:spLocks noGrp="1"/>
          </p:cNvSpPr>
          <p:nvPr>
            <p:ph type="title" idx="6"/>
          </p:nvPr>
        </p:nvSpPr>
        <p:spPr>
          <a:xfrm>
            <a:off x="7578079" y="4171545"/>
            <a:ext cx="2637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22"/>
          <p:cNvSpPr txBox="1">
            <a:spLocks noGrp="1"/>
          </p:cNvSpPr>
          <p:nvPr>
            <p:ph type="subTitle" idx="7"/>
          </p:nvPr>
        </p:nvSpPr>
        <p:spPr>
          <a:xfrm>
            <a:off x="7578079" y="4453439"/>
            <a:ext cx="26376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2"/>
          <p:cNvSpPr txBox="1">
            <a:spLocks noGrp="1"/>
          </p:cNvSpPr>
          <p:nvPr>
            <p:ph type="title" idx="8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11658667" y="58857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2" name="Google Shape;272;p22"/>
          <p:cNvSpPr/>
          <p:nvPr/>
        </p:nvSpPr>
        <p:spPr>
          <a:xfrm>
            <a:off x="286533" y="7300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73" name="Google Shape;273;p22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274" name="Google Shape;274;p22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22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" name="Google Shape;276;p22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7" name="Google Shape;277;p22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2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22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4949676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 txBox="1">
            <a:spLocks noGrp="1"/>
          </p:cNvSpPr>
          <p:nvPr>
            <p:ph type="title"/>
          </p:nvPr>
        </p:nvSpPr>
        <p:spPr>
          <a:xfrm>
            <a:off x="3016639" y="1630367"/>
            <a:ext cx="2966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23"/>
          <p:cNvSpPr txBox="1">
            <a:spLocks noGrp="1"/>
          </p:cNvSpPr>
          <p:nvPr>
            <p:ph type="subTitle" idx="1"/>
          </p:nvPr>
        </p:nvSpPr>
        <p:spPr>
          <a:xfrm>
            <a:off x="3016639" y="1909085"/>
            <a:ext cx="296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3"/>
          <p:cNvSpPr txBox="1">
            <a:spLocks noGrp="1"/>
          </p:cNvSpPr>
          <p:nvPr>
            <p:ph type="title" idx="2"/>
          </p:nvPr>
        </p:nvSpPr>
        <p:spPr>
          <a:xfrm>
            <a:off x="7758797" y="1630367"/>
            <a:ext cx="2966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23"/>
          <p:cNvSpPr txBox="1">
            <a:spLocks noGrp="1"/>
          </p:cNvSpPr>
          <p:nvPr>
            <p:ph type="subTitle" idx="3"/>
          </p:nvPr>
        </p:nvSpPr>
        <p:spPr>
          <a:xfrm>
            <a:off x="7758797" y="1909085"/>
            <a:ext cx="296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3"/>
          <p:cNvSpPr txBox="1">
            <a:spLocks noGrp="1"/>
          </p:cNvSpPr>
          <p:nvPr>
            <p:ph type="title" idx="4"/>
          </p:nvPr>
        </p:nvSpPr>
        <p:spPr>
          <a:xfrm>
            <a:off x="3016639" y="3193477"/>
            <a:ext cx="2966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23"/>
          <p:cNvSpPr txBox="1">
            <a:spLocks noGrp="1"/>
          </p:cNvSpPr>
          <p:nvPr>
            <p:ph type="subTitle" idx="5"/>
          </p:nvPr>
        </p:nvSpPr>
        <p:spPr>
          <a:xfrm>
            <a:off x="3016639" y="3472196"/>
            <a:ext cx="296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3"/>
          <p:cNvSpPr txBox="1">
            <a:spLocks noGrp="1"/>
          </p:cNvSpPr>
          <p:nvPr>
            <p:ph type="title" idx="6"/>
          </p:nvPr>
        </p:nvSpPr>
        <p:spPr>
          <a:xfrm>
            <a:off x="7758797" y="3193477"/>
            <a:ext cx="2966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23"/>
          <p:cNvSpPr txBox="1">
            <a:spLocks noGrp="1"/>
          </p:cNvSpPr>
          <p:nvPr>
            <p:ph type="subTitle" idx="7"/>
          </p:nvPr>
        </p:nvSpPr>
        <p:spPr>
          <a:xfrm>
            <a:off x="7758797" y="3472196"/>
            <a:ext cx="296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3"/>
          <p:cNvSpPr txBox="1">
            <a:spLocks noGrp="1"/>
          </p:cNvSpPr>
          <p:nvPr>
            <p:ph type="title" idx="8"/>
          </p:nvPr>
        </p:nvSpPr>
        <p:spPr>
          <a:xfrm>
            <a:off x="7758797" y="4766248"/>
            <a:ext cx="2966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23"/>
          <p:cNvSpPr txBox="1">
            <a:spLocks noGrp="1"/>
          </p:cNvSpPr>
          <p:nvPr>
            <p:ph type="subTitle" idx="9"/>
          </p:nvPr>
        </p:nvSpPr>
        <p:spPr>
          <a:xfrm>
            <a:off x="7758797" y="5044967"/>
            <a:ext cx="296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3"/>
          <p:cNvSpPr txBox="1">
            <a:spLocks noGrp="1"/>
          </p:cNvSpPr>
          <p:nvPr>
            <p:ph type="title" idx="13"/>
          </p:nvPr>
        </p:nvSpPr>
        <p:spPr>
          <a:xfrm>
            <a:off x="3016639" y="4766248"/>
            <a:ext cx="2966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2" name="Google Shape;292;p23"/>
          <p:cNvSpPr txBox="1">
            <a:spLocks noGrp="1"/>
          </p:cNvSpPr>
          <p:nvPr>
            <p:ph type="subTitle" idx="14"/>
          </p:nvPr>
        </p:nvSpPr>
        <p:spPr>
          <a:xfrm>
            <a:off x="3016639" y="5044967"/>
            <a:ext cx="2966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title" idx="15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94" name="Google Shape;294;p23"/>
          <p:cNvGrpSpPr/>
          <p:nvPr/>
        </p:nvGrpSpPr>
        <p:grpSpPr>
          <a:xfrm flipH="1"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295" name="Google Shape;295;p23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6" name="Google Shape;296;p23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7" name="Google Shape;297;p23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23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" name="Google Shape;299;p23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0" name="Google Shape;300;p23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1" name="Google Shape;301;p23"/>
          <p:cNvSpPr/>
          <p:nvPr/>
        </p:nvSpPr>
        <p:spPr>
          <a:xfrm>
            <a:off x="286533" y="58857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2" name="Google Shape;302;p23"/>
          <p:cNvSpPr/>
          <p:nvPr/>
        </p:nvSpPr>
        <p:spPr>
          <a:xfrm>
            <a:off x="11658667" y="7300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933757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 and six columns 1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 txBox="1">
            <a:spLocks noGrp="1"/>
          </p:cNvSpPr>
          <p:nvPr>
            <p:ph type="title"/>
          </p:nvPr>
        </p:nvSpPr>
        <p:spPr>
          <a:xfrm>
            <a:off x="1364583" y="2554301"/>
            <a:ext cx="2648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24"/>
          <p:cNvSpPr txBox="1">
            <a:spLocks noGrp="1"/>
          </p:cNvSpPr>
          <p:nvPr>
            <p:ph type="subTitle" idx="1"/>
          </p:nvPr>
        </p:nvSpPr>
        <p:spPr>
          <a:xfrm>
            <a:off x="1364583" y="2860580"/>
            <a:ext cx="2648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24"/>
          <p:cNvSpPr txBox="1">
            <a:spLocks noGrp="1"/>
          </p:cNvSpPr>
          <p:nvPr>
            <p:ph type="title" idx="2"/>
          </p:nvPr>
        </p:nvSpPr>
        <p:spPr>
          <a:xfrm>
            <a:off x="4772000" y="2554301"/>
            <a:ext cx="2648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7" name="Google Shape;307;p24"/>
          <p:cNvSpPr txBox="1">
            <a:spLocks noGrp="1"/>
          </p:cNvSpPr>
          <p:nvPr>
            <p:ph type="subTitle" idx="3"/>
          </p:nvPr>
        </p:nvSpPr>
        <p:spPr>
          <a:xfrm>
            <a:off x="4772000" y="2860580"/>
            <a:ext cx="2648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4"/>
          <p:cNvSpPr txBox="1">
            <a:spLocks noGrp="1"/>
          </p:cNvSpPr>
          <p:nvPr>
            <p:ph type="title" idx="4"/>
          </p:nvPr>
        </p:nvSpPr>
        <p:spPr>
          <a:xfrm>
            <a:off x="1364583" y="4951831"/>
            <a:ext cx="2648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24"/>
          <p:cNvSpPr txBox="1">
            <a:spLocks noGrp="1"/>
          </p:cNvSpPr>
          <p:nvPr>
            <p:ph type="subTitle" idx="5"/>
          </p:nvPr>
        </p:nvSpPr>
        <p:spPr>
          <a:xfrm>
            <a:off x="1364583" y="5259077"/>
            <a:ext cx="2648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24"/>
          <p:cNvSpPr txBox="1">
            <a:spLocks noGrp="1"/>
          </p:cNvSpPr>
          <p:nvPr>
            <p:ph type="title" idx="6"/>
          </p:nvPr>
        </p:nvSpPr>
        <p:spPr>
          <a:xfrm>
            <a:off x="4772000" y="4951831"/>
            <a:ext cx="2648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24"/>
          <p:cNvSpPr txBox="1">
            <a:spLocks noGrp="1"/>
          </p:cNvSpPr>
          <p:nvPr>
            <p:ph type="subTitle" idx="7"/>
          </p:nvPr>
        </p:nvSpPr>
        <p:spPr>
          <a:xfrm>
            <a:off x="4772000" y="5259077"/>
            <a:ext cx="2648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idx="8"/>
          </p:nvPr>
        </p:nvSpPr>
        <p:spPr>
          <a:xfrm>
            <a:off x="8179417" y="2554301"/>
            <a:ext cx="2648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9"/>
          </p:nvPr>
        </p:nvSpPr>
        <p:spPr>
          <a:xfrm>
            <a:off x="8179417" y="2860580"/>
            <a:ext cx="2648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13"/>
          </p:nvPr>
        </p:nvSpPr>
        <p:spPr>
          <a:xfrm>
            <a:off x="8179417" y="4951831"/>
            <a:ext cx="2648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14"/>
          </p:nvPr>
        </p:nvSpPr>
        <p:spPr>
          <a:xfrm>
            <a:off x="8179417" y="5259077"/>
            <a:ext cx="2648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15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24"/>
          <p:cNvSpPr/>
          <p:nvPr/>
        </p:nvSpPr>
        <p:spPr>
          <a:xfrm>
            <a:off x="274533" y="58857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8" name="Google Shape;318;p24"/>
          <p:cNvSpPr/>
          <p:nvPr/>
        </p:nvSpPr>
        <p:spPr>
          <a:xfrm>
            <a:off x="11657500" y="58857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19" name="Google Shape;319;p24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320" name="Google Shape;320;p24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1" name="Google Shape;321;p24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2" name="Google Shape;322;p24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24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24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24"/>
            <p:cNvCxnSpPr/>
            <p:nvPr/>
          </p:nvCxnSpPr>
          <p:spPr>
            <a:xfrm>
              <a:off x="-5900" y="4180488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5375921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"/>
          <p:cNvSpPr txBox="1">
            <a:spLocks noGrp="1"/>
          </p:cNvSpPr>
          <p:nvPr>
            <p:ph type="title" hasCustomPrompt="1"/>
          </p:nvPr>
        </p:nvSpPr>
        <p:spPr>
          <a:xfrm>
            <a:off x="3296800" y="952715"/>
            <a:ext cx="55984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28" name="Google Shape;328;p25"/>
          <p:cNvSpPr txBox="1">
            <a:spLocks noGrp="1"/>
          </p:cNvSpPr>
          <p:nvPr>
            <p:ph type="subTitle" idx="1"/>
          </p:nvPr>
        </p:nvSpPr>
        <p:spPr>
          <a:xfrm>
            <a:off x="3296800" y="1802968"/>
            <a:ext cx="5598400" cy="48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29" name="Google Shape;329;p25"/>
          <p:cNvSpPr txBox="1">
            <a:spLocks noGrp="1"/>
          </p:cNvSpPr>
          <p:nvPr>
            <p:ph type="title" idx="2" hasCustomPrompt="1"/>
          </p:nvPr>
        </p:nvSpPr>
        <p:spPr>
          <a:xfrm>
            <a:off x="3296800" y="2477469"/>
            <a:ext cx="55984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30" name="Google Shape;330;p25"/>
          <p:cNvSpPr txBox="1">
            <a:spLocks noGrp="1"/>
          </p:cNvSpPr>
          <p:nvPr>
            <p:ph type="subTitle" idx="3"/>
          </p:nvPr>
        </p:nvSpPr>
        <p:spPr>
          <a:xfrm>
            <a:off x="3296800" y="3329277"/>
            <a:ext cx="5598400" cy="48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31" name="Google Shape;331;p25"/>
          <p:cNvSpPr txBox="1">
            <a:spLocks noGrp="1"/>
          </p:cNvSpPr>
          <p:nvPr>
            <p:ph type="title" idx="4" hasCustomPrompt="1"/>
          </p:nvPr>
        </p:nvSpPr>
        <p:spPr>
          <a:xfrm>
            <a:off x="3296800" y="4139235"/>
            <a:ext cx="55984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32" name="Google Shape;332;p25"/>
          <p:cNvSpPr txBox="1">
            <a:spLocks noGrp="1"/>
          </p:cNvSpPr>
          <p:nvPr>
            <p:ph type="subTitle" idx="5"/>
          </p:nvPr>
        </p:nvSpPr>
        <p:spPr>
          <a:xfrm>
            <a:off x="3296800" y="4992812"/>
            <a:ext cx="5598400" cy="48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274533" y="63688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4" name="Google Shape;334;p25"/>
          <p:cNvSpPr/>
          <p:nvPr/>
        </p:nvSpPr>
        <p:spPr>
          <a:xfrm>
            <a:off x="11657533" y="2053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35" name="Google Shape;335;p25"/>
          <p:cNvGrpSpPr/>
          <p:nvPr/>
        </p:nvGrpSpPr>
        <p:grpSpPr>
          <a:xfrm flipH="1"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336" name="Google Shape;336;p25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25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25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25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" name="Google Shape;340;p25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" name="Google Shape;341;p25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6652389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 txBox="1">
            <a:spLocks noGrp="1"/>
          </p:cNvSpPr>
          <p:nvPr>
            <p:ph type="title"/>
          </p:nvPr>
        </p:nvSpPr>
        <p:spPr>
          <a:xfrm>
            <a:off x="2531360" y="666467"/>
            <a:ext cx="7129200" cy="146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9066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26"/>
          <p:cNvSpPr txBox="1">
            <a:spLocks noGrp="1"/>
          </p:cNvSpPr>
          <p:nvPr>
            <p:ph type="subTitle" idx="1"/>
          </p:nvPr>
        </p:nvSpPr>
        <p:spPr>
          <a:xfrm>
            <a:off x="2528800" y="2131189"/>
            <a:ext cx="7134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2531976" y="4864671"/>
            <a:ext cx="71276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rPr>
              <a:t>CREDITS: This presentation template was created by </a:t>
            </a:r>
            <a:r>
              <a:rPr lang="en" sz="1600" b="1">
                <a:solidFill>
                  <a:schemeClr val="lt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rPr>
              <a:t>, including icons by </a:t>
            </a:r>
            <a:r>
              <a:rPr lang="en" sz="1600" b="1">
                <a:solidFill>
                  <a:schemeClr val="lt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rPr>
              <a:t>, infographics &amp; images by </a:t>
            </a:r>
            <a:r>
              <a:rPr lang="en" sz="1600" b="1">
                <a:solidFill>
                  <a:schemeClr val="lt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 b="1">
              <a:solidFill>
                <a:schemeClr val="lt1"/>
              </a:solidFill>
              <a:latin typeface="Hind"/>
              <a:ea typeface="Hind"/>
              <a:cs typeface="Hind"/>
              <a:sym typeface="Hind"/>
            </a:endParaRPr>
          </a:p>
        </p:txBody>
      </p:sp>
      <p:grpSp>
        <p:nvGrpSpPr>
          <p:cNvPr id="346" name="Google Shape;346;p26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347" name="Google Shape;347;p26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" name="Google Shape;348;p26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" name="Google Shape;349;p26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" name="Google Shape;350;p26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" name="Google Shape;351;p26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p26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3" name="Google Shape;353;p26"/>
          <p:cNvSpPr/>
          <p:nvPr/>
        </p:nvSpPr>
        <p:spPr>
          <a:xfrm>
            <a:off x="274533" y="63949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4" name="Google Shape;354;p26"/>
          <p:cNvSpPr/>
          <p:nvPr/>
        </p:nvSpPr>
        <p:spPr>
          <a:xfrm>
            <a:off x="274533" y="216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5" name="Google Shape;355;p26"/>
          <p:cNvSpPr/>
          <p:nvPr/>
        </p:nvSpPr>
        <p:spPr>
          <a:xfrm>
            <a:off x="11670667" y="63949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6" name="Google Shape;356;p26"/>
          <p:cNvSpPr/>
          <p:nvPr/>
        </p:nvSpPr>
        <p:spPr>
          <a:xfrm>
            <a:off x="11670667" y="216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117857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/>
          <p:nvPr/>
        </p:nvSpPr>
        <p:spPr>
          <a:xfrm>
            <a:off x="274533" y="58857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9" name="Google Shape;359;p27"/>
          <p:cNvSpPr/>
          <p:nvPr/>
        </p:nvSpPr>
        <p:spPr>
          <a:xfrm>
            <a:off x="11657500" y="5885751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60" name="Google Shape;360;p27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361" name="Google Shape;361;p27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2" name="Google Shape;362;p27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" name="Google Shape;363;p27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" name="Google Shape;364;p27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365;p27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366;p27"/>
            <p:cNvCxnSpPr/>
            <p:nvPr/>
          </p:nvCxnSpPr>
          <p:spPr>
            <a:xfrm>
              <a:off x="-5900" y="4180488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2360001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28"/>
          <p:cNvGrpSpPr/>
          <p:nvPr/>
        </p:nvGrpSpPr>
        <p:grpSpPr>
          <a:xfrm>
            <a:off x="-11534" y="67"/>
            <a:ext cx="12218467" cy="6848000"/>
            <a:chOff x="-8650" y="50"/>
            <a:chExt cx="9163850" cy="5136000"/>
          </a:xfrm>
        </p:grpSpPr>
        <p:cxnSp>
          <p:nvCxnSpPr>
            <p:cNvPr id="369" name="Google Shape;369;p28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0" name="Google Shape;370;p28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Google Shape;371;p28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Google Shape;372;p28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28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28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5" name="Google Shape;375;p28"/>
          <p:cNvSpPr/>
          <p:nvPr/>
        </p:nvSpPr>
        <p:spPr>
          <a:xfrm>
            <a:off x="274533" y="63949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6" name="Google Shape;376;p28"/>
          <p:cNvSpPr/>
          <p:nvPr/>
        </p:nvSpPr>
        <p:spPr>
          <a:xfrm>
            <a:off x="274533" y="216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7" name="Google Shape;377;p28"/>
          <p:cNvSpPr/>
          <p:nvPr/>
        </p:nvSpPr>
        <p:spPr>
          <a:xfrm>
            <a:off x="11670667" y="6394984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8" name="Google Shape;378;p28"/>
          <p:cNvSpPr/>
          <p:nvPr/>
        </p:nvSpPr>
        <p:spPr>
          <a:xfrm>
            <a:off x="11670667" y="216217"/>
            <a:ext cx="246800" cy="2468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266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7000" y="487680"/>
            <a:ext cx="10278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Medium"/>
              <a:buNone/>
              <a:defRPr sz="3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23600" y="1802500"/>
            <a:ext cx="10282400" cy="4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●"/>
              <a:defRPr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○"/>
              <a:defRPr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■"/>
              <a:defRPr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●"/>
              <a:defRPr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○"/>
              <a:defRPr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■"/>
              <a:defRPr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●"/>
              <a:defRPr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○"/>
              <a:defRPr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/>
              <a:buChar char="■"/>
              <a:defRPr>
                <a:solidFill>
                  <a:schemeClr val="lt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60933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2206136@eee.buet.ac.bd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2206153@eee.buet.ac.bd" TargetMode="External"/><Relationship Id="rId5" Type="http://schemas.openxmlformats.org/officeDocument/2006/relationships/hyperlink" Target="mailto:2206152@eee.buet.ac.bd" TargetMode="External"/><Relationship Id="rId4" Type="http://schemas.openxmlformats.org/officeDocument/2006/relationships/hyperlink" Target="mailto:2206147@eee.buet.ac.b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F4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18092C23-436A-EA24-21D3-99F456432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515" y="2672686"/>
            <a:ext cx="970373" cy="868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5" r="64965"/>
          <a:stretch/>
        </p:blipFill>
        <p:spPr>
          <a:xfrm>
            <a:off x="-279216" y="109474"/>
            <a:ext cx="1127293" cy="6213582"/>
          </a:xfrm>
          <a:prstGeom prst="rect">
            <a:avLst/>
          </a:prstGeom>
        </p:spPr>
      </p:pic>
      <p:sp>
        <p:nvSpPr>
          <p:cNvPr id="389" name="Google Shape;389;p32"/>
          <p:cNvSpPr txBox="1">
            <a:spLocks noGrp="1"/>
          </p:cNvSpPr>
          <p:nvPr>
            <p:ph type="ctrTitle"/>
          </p:nvPr>
        </p:nvSpPr>
        <p:spPr>
          <a:xfrm>
            <a:off x="1239595" y="1175917"/>
            <a:ext cx="9320695" cy="260569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00000"/>
              </a:lnSpc>
              <a:buClrTx/>
              <a:buSzTx/>
              <a:defRPr/>
            </a:pPr>
            <a:r>
              <a:rPr lang="en-US" sz="4800" kern="1200" dirty="0">
                <a:solidFill>
                  <a:srgbClr val="4472C4">
                    <a:lumMod val="75000"/>
                  </a:srgb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Modeling the Spread of COVID-19 Using a Logistic Growth Model in MATLAB</a:t>
            </a:r>
            <a:endParaRPr lang="en-GB" sz="4800" kern="1200" dirty="0">
              <a:solidFill>
                <a:srgbClr val="4472C4">
                  <a:lumMod val="75000"/>
                </a:srgb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90" name="Google Shape;390;p32"/>
          <p:cNvCxnSpPr/>
          <p:nvPr/>
        </p:nvCxnSpPr>
        <p:spPr>
          <a:xfrm>
            <a:off x="3053479" y="3597197"/>
            <a:ext cx="5988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1" name="Google Shape;391;p32"/>
          <p:cNvSpPr txBox="1">
            <a:spLocks noGrp="1"/>
          </p:cNvSpPr>
          <p:nvPr>
            <p:ph type="subTitle" idx="1"/>
          </p:nvPr>
        </p:nvSpPr>
        <p:spPr>
          <a:xfrm>
            <a:off x="2366888" y="3646703"/>
            <a:ext cx="6845864" cy="63424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-GB" u="sng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" u="sng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repared by-</a:t>
            </a:r>
          </a:p>
          <a:p>
            <a:pPr marL="0" indent="0"/>
            <a:endParaRPr dirty="0">
              <a:solidFill>
                <a:schemeClr val="lt1"/>
              </a:solidFill>
            </a:endParaRPr>
          </a:p>
        </p:txBody>
      </p:sp>
      <p:sp>
        <p:nvSpPr>
          <p:cNvPr id="392" name="Google Shape;392;p32"/>
          <p:cNvSpPr txBox="1"/>
          <p:nvPr/>
        </p:nvSpPr>
        <p:spPr>
          <a:xfrm>
            <a:off x="3365602" y="0"/>
            <a:ext cx="5480473" cy="676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EEE 212 (January 2025)</a:t>
            </a:r>
            <a:endParaRPr lang="en-GB" sz="16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US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Numerical Technique Laboratory </a:t>
            </a:r>
            <a:endParaRPr sz="1600" kern="0" dirty="0">
              <a:solidFill>
                <a:srgbClr val="222020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C1770E-A5B9-480C-FAFF-B1F3079F9FCA}"/>
              </a:ext>
            </a:extLst>
          </p:cNvPr>
          <p:cNvSpPr txBox="1"/>
          <p:nvPr/>
        </p:nvSpPr>
        <p:spPr>
          <a:xfrm>
            <a:off x="2548403" y="4115946"/>
            <a:ext cx="6948524" cy="1528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GB" sz="1867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Sasshata</a:t>
            </a:r>
            <a:r>
              <a:rPr lang="en-GB" sz="1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Talukder</a:t>
            </a:r>
          </a:p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Student ID: 2206136</a:t>
            </a:r>
          </a:p>
          <a:p>
            <a:pPr defTabSz="1219170">
              <a:buClr>
                <a:srgbClr val="000000"/>
              </a:buClr>
            </a:pPr>
            <a:endParaRPr lang="en-GB" sz="1867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S. M. </a:t>
            </a:r>
            <a:r>
              <a:rPr lang="en-US" sz="1867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Sindid</a:t>
            </a:r>
            <a:r>
              <a:rPr lang="en-US" sz="1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Islam </a:t>
            </a:r>
            <a:r>
              <a:rPr lang="en-US" sz="1867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Mahodi</a:t>
            </a:r>
            <a:endParaRPr lang="en-GB" sz="1867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Student ID: 2206147</a:t>
            </a:r>
            <a:endParaRPr lang="en-GB" sz="1867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41329-C316-9608-AA7A-406BEBB580C7}"/>
              </a:ext>
            </a:extLst>
          </p:cNvPr>
          <p:cNvSpPr txBox="1"/>
          <p:nvPr/>
        </p:nvSpPr>
        <p:spPr>
          <a:xfrm>
            <a:off x="6426009" y="4163025"/>
            <a:ext cx="4198448" cy="1528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Rajib Khan</a:t>
            </a:r>
            <a:endParaRPr lang="en-GB" sz="1867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Student ID: 2206152</a:t>
            </a:r>
          </a:p>
          <a:p>
            <a:pPr defTabSz="1219170">
              <a:buClr>
                <a:srgbClr val="000000"/>
              </a:buClr>
            </a:pPr>
            <a:endParaRPr lang="en-GB" sz="1867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Iftekhar-E-Islam</a:t>
            </a:r>
            <a:endParaRPr lang="en-GB" sz="1867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Student ID: 2206153</a:t>
            </a:r>
            <a:endParaRPr lang="en-GB" sz="1867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51" t="-2568" r="35722" b="2568"/>
          <a:stretch/>
        </p:blipFill>
        <p:spPr>
          <a:xfrm>
            <a:off x="11310811" y="243697"/>
            <a:ext cx="1160608" cy="57712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00F2EDB4-827D-9457-2202-6600187C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18A9F4B-6CF1-C229-7F59-D1E6A4CF0BF0}"/>
              </a:ext>
            </a:extLst>
          </p:cNvPr>
          <p:cNvSpPr txBox="1"/>
          <p:nvPr/>
        </p:nvSpPr>
        <p:spPr>
          <a:xfrm>
            <a:off x="3485584" y="1158844"/>
            <a:ext cx="4906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261C31-BEE3-EA64-88BB-35508FFA2742}"/>
              </a:ext>
            </a:extLst>
          </p:cNvPr>
          <p:cNvSpPr txBox="1"/>
          <p:nvPr/>
        </p:nvSpPr>
        <p:spPr>
          <a:xfrm>
            <a:off x="2922760" y="2397948"/>
            <a:ext cx="6346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Logistics Growth Model &amp; Uploading Data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buClr>
                <a:srgbClr val="000000"/>
              </a:buClr>
            </a:pPr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Sasshata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Talukder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 2206136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F641E-3953-651B-7112-82AA4870EBF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5" r="64965"/>
          <a:stretch/>
        </p:blipFill>
        <p:spPr>
          <a:xfrm>
            <a:off x="-220493" y="143030"/>
            <a:ext cx="1127293" cy="62135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CDA219-30F1-A3FB-BA83-DE9C48E814F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51" t="-2568" r="35722" b="2568"/>
          <a:stretch/>
        </p:blipFill>
        <p:spPr>
          <a:xfrm>
            <a:off x="11267720" y="364216"/>
            <a:ext cx="1160608" cy="577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4E8C5D-A0BF-4095-B909-A27C9A7F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Logistic Growth Model Basics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48C2F3-9DD4-4E18-9521-B6F86C638387}"/>
                  </a:ext>
                </a:extLst>
              </p:cNvPr>
              <p:cNvSpPr txBox="1"/>
              <p:nvPr/>
            </p:nvSpPr>
            <p:spPr>
              <a:xfrm>
                <a:off x="1113412" y="1647825"/>
                <a:ext cx="9965175" cy="4495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The logistic model used is defined as:</a:t>
                </a: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𝑁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𝑡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GB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den>
                      </m:f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​ </m:t>
                      </m:r>
                    </m:oMath>
                  </m:oMathPara>
                </a14:m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Where:</a:t>
                </a: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ts val="1000"/>
                  <a:buFont typeface="Wingdings" panose="05000000000000000000" pitchFamily="2" charset="2"/>
                  <a:buChar char="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𝑁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: cumulative number of cases at time t</a:t>
                </a: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SzPts val="1000"/>
                  <a:buFont typeface="Wingdings" panose="05000000000000000000" pitchFamily="2" charset="2"/>
                  <a:buChar char="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GB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: carrying capacity </a:t>
                </a:r>
                <a:r>
                  <a:rPr lang="en-GB" sz="1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Indicates the estimated maximum number of cases the country may reach under current conditions</a:t>
                </a:r>
                <a:r>
                  <a:rPr lang="en-GB" sz="1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18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SzPts val="1000"/>
                  <a:buFont typeface="Wingdings" panose="05000000000000000000" pitchFamily="2" charset="2"/>
                  <a:buChar char="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GB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: growth rate </a:t>
                </a:r>
                <a:r>
                  <a:rPr lang="en-GB" sz="1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Reflects how quickly the cases are increasing</a:t>
                </a:r>
                <a:r>
                  <a:rPr lang="en-GB" sz="1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18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SzPts val="1000"/>
                  <a:buFont typeface="Wingdings" panose="05000000000000000000" pitchFamily="2" charset="2"/>
                  <a:buChar char="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​: inflection point </a:t>
                </a:r>
                <a:r>
                  <a:rPr lang="en-GB" sz="1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(peak growth time,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time when the curve switches from accelerating to decelerating growth</a:t>
                </a:r>
                <a:r>
                  <a:rPr lang="en-GB" sz="1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  <a:endParaRPr lang="en-US" sz="18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48C2F3-9DD4-4E18-9521-B6F86C638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412" y="1647825"/>
                <a:ext cx="9965175" cy="4495783"/>
              </a:xfrm>
              <a:prstGeom prst="rect">
                <a:avLst/>
              </a:prstGeom>
              <a:blipFill>
                <a:blip r:embed="rId3"/>
                <a:stretch>
                  <a:fillRect l="-551" r="-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797F60F-D941-F462-914D-07AEA8C0A032}"/>
              </a:ext>
            </a:extLst>
          </p:cNvPr>
          <p:cNvSpPr txBox="1"/>
          <p:nvPr/>
        </p:nvSpPr>
        <p:spPr>
          <a:xfrm>
            <a:off x="3485584" y="1158844"/>
            <a:ext cx="4906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CA4563-C26F-8209-2193-0A21C0670396}"/>
              </a:ext>
            </a:extLst>
          </p:cNvPr>
          <p:cNvSpPr txBox="1"/>
          <p:nvPr/>
        </p:nvSpPr>
        <p:spPr>
          <a:xfrm>
            <a:off x="1042416" y="2260788"/>
            <a:ext cx="99303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Numerical Engine: Implementing the Levenberg-Marquardt Algorithm 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lsqcurvefit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)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 defTabSz="1219170">
              <a:buClr>
                <a:srgbClr val="000000"/>
              </a:buClr>
            </a:pPr>
            <a:r>
              <a:rPr lang="en-US" sz="3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S. M. </a:t>
            </a:r>
            <a:r>
              <a:rPr lang="en-US" sz="32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Sindid</a:t>
            </a:r>
            <a:r>
              <a:rPr lang="en-US" sz="3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Islam </a:t>
            </a:r>
            <a:r>
              <a:rPr lang="en-US" sz="32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Mahodi</a:t>
            </a:r>
            <a:endParaRPr lang="en-GB" sz="32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 2206147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5" r="64965"/>
          <a:stretch/>
        </p:blipFill>
        <p:spPr>
          <a:xfrm>
            <a:off x="-220493" y="143030"/>
            <a:ext cx="1127293" cy="62135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51" t="-2568" r="35722" b="2568"/>
          <a:stretch/>
        </p:blipFill>
        <p:spPr>
          <a:xfrm>
            <a:off x="11267720" y="364216"/>
            <a:ext cx="1160608" cy="5771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CA4563-C26F-8209-2193-0A21C0670396}"/>
              </a:ext>
            </a:extLst>
          </p:cNvPr>
          <p:cNvSpPr txBox="1"/>
          <p:nvPr/>
        </p:nvSpPr>
        <p:spPr>
          <a:xfrm>
            <a:off x="1149292" y="728538"/>
            <a:ext cx="94460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Levenberg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-Marquardt Algorithm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ECAE5A-36BC-CFDC-B89D-AAC8F9D62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787" y="971765"/>
            <a:ext cx="8734425" cy="1552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E03EEA-5521-2EA6-E1DF-3DBA495D8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937" y="2393409"/>
            <a:ext cx="1071271" cy="5391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34D467-F032-0789-B184-41529BAB63F0}"/>
              </a:ext>
            </a:extLst>
          </p:cNvPr>
          <p:cNvSpPr txBox="1"/>
          <p:nvPr/>
        </p:nvSpPr>
        <p:spPr>
          <a:xfrm>
            <a:off x="3619892" y="2192794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</a:t>
            </a:r>
            <a:r>
              <a:rPr lang="en-US" b="1" dirty="0"/>
              <a:t>new, improved guess</a:t>
            </a:r>
            <a:r>
              <a:rPr lang="en-US" dirty="0"/>
              <a:t> for the parameters after taking one step.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7FECE8-8948-98A4-0467-D647C4A30DF1}"/>
              </a:ext>
            </a:extLst>
          </p:cNvPr>
          <p:cNvSpPr txBox="1"/>
          <p:nvPr/>
        </p:nvSpPr>
        <p:spPr>
          <a:xfrm>
            <a:off x="3619892" y="2916067"/>
            <a:ext cx="61132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is the </a:t>
            </a:r>
            <a:r>
              <a:rPr lang="en-US" b="1" dirty="0"/>
              <a:t>current guess </a:t>
            </a:r>
            <a:r>
              <a:rPr lang="en-US" dirty="0"/>
              <a:t>for the parameters before taking one step.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CAC5CB0-9414-3F09-EFD9-6647153AB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6677" y="2916067"/>
            <a:ext cx="448841" cy="64633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B2EAF6C-98A2-72F0-11ED-3628B7C71FFD}"/>
              </a:ext>
            </a:extLst>
          </p:cNvPr>
          <p:cNvSpPr txBox="1"/>
          <p:nvPr/>
        </p:nvSpPr>
        <p:spPr>
          <a:xfrm>
            <a:off x="3619892" y="3542343"/>
            <a:ext cx="61132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matrix tells us </a:t>
            </a:r>
            <a:r>
              <a:rPr lang="en-US" b="1" dirty="0"/>
              <a:t>how sensitive the model's output is</a:t>
            </a:r>
            <a:r>
              <a:rPr lang="en-US" dirty="0"/>
              <a:t> to small changes in each parameter.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266D853-7530-0E4F-E23C-3A5A55D7DB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1847" y="3647734"/>
            <a:ext cx="311550" cy="49715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A4C13EB-6024-B93B-B64B-D2668E023916}"/>
              </a:ext>
            </a:extLst>
          </p:cNvPr>
          <p:cNvSpPr txBox="1"/>
          <p:nvPr/>
        </p:nvSpPr>
        <p:spPr>
          <a:xfrm>
            <a:off x="3619892" y="4180373"/>
            <a:ext cx="61132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is a list of the </a:t>
            </a:r>
            <a:r>
              <a:rPr lang="en-US" b="1" dirty="0"/>
              <a:t>errors</a:t>
            </a:r>
            <a:r>
              <a:rPr lang="en-US" dirty="0"/>
              <a:t> between the actual data and the model's prediction using our current guess.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DF180B7-94E7-4E63-ABD1-02FA912B1F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6677" y="4230225"/>
            <a:ext cx="1079753" cy="64633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BBFD4BC-69EF-127E-DB0D-D682550E121F}"/>
              </a:ext>
            </a:extLst>
          </p:cNvPr>
          <p:cNvSpPr txBox="1"/>
          <p:nvPr/>
        </p:nvSpPr>
        <p:spPr>
          <a:xfrm>
            <a:off x="3619892" y="4986360"/>
            <a:ext cx="61132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is the </a:t>
            </a:r>
            <a:r>
              <a:rPr lang="en-US" b="1" dirty="0"/>
              <a:t>"smart" control knob</a:t>
            </a:r>
            <a:r>
              <a:rPr lang="en-US" dirty="0"/>
              <a:t> that adjusts the size and safety of the step the algorithm takes.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E808F12-71A3-0B2B-FE9E-F3715E9A3E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1858" y="5071733"/>
            <a:ext cx="371527" cy="638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2D659415-3C9F-7408-E024-ABC2CE2A1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1ED223-B69F-5018-EE3A-ECF3A95B9BA0}"/>
              </a:ext>
            </a:extLst>
          </p:cNvPr>
          <p:cNvSpPr txBox="1"/>
          <p:nvPr/>
        </p:nvSpPr>
        <p:spPr>
          <a:xfrm>
            <a:off x="809197" y="216008"/>
            <a:ext cx="4534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Starting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AF2DC-E924-027A-7953-2BD447026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" t="2539" r="21032" b="-2539"/>
          <a:stretch>
            <a:fillRect/>
          </a:stretch>
        </p:blipFill>
        <p:spPr>
          <a:xfrm>
            <a:off x="4892041" y="1010610"/>
            <a:ext cx="6424229" cy="120031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6629A9-C48C-8A1A-5326-0471856FE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1" y="2668031"/>
            <a:ext cx="6096851" cy="1086002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7CCB8C-D7B3-FF52-6518-416B2D5DD7DF}"/>
              </a:ext>
            </a:extLst>
          </p:cNvPr>
          <p:cNvSpPr txBox="1"/>
          <p:nvPr/>
        </p:nvSpPr>
        <p:spPr>
          <a:xfrm>
            <a:off x="1359884" y="3584931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 (rate) = 0.1;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02F3842-3044-A0B5-9E9D-1F42FA5742CD}"/>
              </a:ext>
            </a:extLst>
          </p:cNvPr>
          <p:cNvSpPr/>
          <p:nvPr/>
        </p:nvSpPr>
        <p:spPr>
          <a:xfrm>
            <a:off x="852870" y="1906837"/>
            <a:ext cx="393826" cy="1298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846295-6221-275F-C46A-EEFDF3F35D4B}"/>
              </a:ext>
            </a:extLst>
          </p:cNvPr>
          <p:cNvSpPr txBox="1"/>
          <p:nvPr/>
        </p:nvSpPr>
        <p:spPr>
          <a:xfrm>
            <a:off x="1256731" y="2533682"/>
            <a:ext cx="4290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K(Carrying Capacity)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max(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N_fit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)* 1.5;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00E2FAB-278B-7DD2-8D90-703FAE66F0DD}"/>
              </a:ext>
            </a:extLst>
          </p:cNvPr>
          <p:cNvSpPr/>
          <p:nvPr/>
        </p:nvSpPr>
        <p:spPr>
          <a:xfrm>
            <a:off x="862905" y="2715303"/>
            <a:ext cx="393826" cy="1298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B4B696-5755-01E6-E0EB-F0A7C5E2C7A8}"/>
              </a:ext>
            </a:extLst>
          </p:cNvPr>
          <p:cNvSpPr txBox="1"/>
          <p:nvPr/>
        </p:nvSpPr>
        <p:spPr>
          <a:xfrm>
            <a:off x="1359884" y="1724668"/>
            <a:ext cx="3433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Initial Guess (p0​), based on the data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DAFCB5D-7172-E536-F34F-A0C659512C7F}"/>
              </a:ext>
            </a:extLst>
          </p:cNvPr>
          <p:cNvSpPr/>
          <p:nvPr/>
        </p:nvSpPr>
        <p:spPr>
          <a:xfrm>
            <a:off x="852870" y="3639751"/>
            <a:ext cx="393826" cy="1298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94C490-5438-A0D8-1DAE-238AF927187E}"/>
              </a:ext>
            </a:extLst>
          </p:cNvPr>
          <p:cNvSpPr txBox="1"/>
          <p:nvPr/>
        </p:nvSpPr>
        <p:spPr>
          <a:xfrm>
            <a:off x="1356360" y="4189969"/>
            <a:ext cx="3947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(Inflection)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t_fit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(round(end/2));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A44DA4B-123C-3F97-B409-325C751B8569}"/>
              </a:ext>
            </a:extLst>
          </p:cNvPr>
          <p:cNvSpPr/>
          <p:nvPr/>
        </p:nvSpPr>
        <p:spPr>
          <a:xfrm>
            <a:off x="852870" y="4448217"/>
            <a:ext cx="393826" cy="1298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409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5252D9AD-A329-8155-8C65-F9F5ECB4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44B6C4-7F11-B15B-EE59-C6821F0776CA}"/>
              </a:ext>
            </a:extLst>
          </p:cNvPr>
          <p:cNvSpPr txBox="1"/>
          <p:nvPr/>
        </p:nvSpPr>
        <p:spPr>
          <a:xfrm>
            <a:off x="852870" y="228573"/>
            <a:ext cx="5685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Constraining the Solution Space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7425C-C9BA-1F31-C4AE-0C15D7F40C9C}"/>
              </a:ext>
            </a:extLst>
          </p:cNvPr>
          <p:cNvSpPr txBox="1"/>
          <p:nvPr/>
        </p:nvSpPr>
        <p:spPr>
          <a:xfrm>
            <a:off x="1954244" y="3783438"/>
            <a:ext cx="33035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must be at least the max observed cases.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must be positive.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E88A287-1BAE-C2D1-C5F3-D3C54B7BF5E4}"/>
              </a:ext>
            </a:extLst>
          </p:cNvPr>
          <p:cNvSpPr/>
          <p:nvPr/>
        </p:nvSpPr>
        <p:spPr>
          <a:xfrm>
            <a:off x="841696" y="1746817"/>
            <a:ext cx="393826" cy="2514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F9B31E-F19E-8551-71A5-421CDCE18423}"/>
              </a:ext>
            </a:extLst>
          </p:cNvPr>
          <p:cNvSpPr txBox="1"/>
          <p:nvPr/>
        </p:nvSpPr>
        <p:spPr>
          <a:xfrm>
            <a:off x="1040386" y="3281730"/>
            <a:ext cx="4290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Bounds: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140C61-BC42-92D0-A704-85EA0E07A7A1}"/>
              </a:ext>
            </a:extLst>
          </p:cNvPr>
          <p:cNvSpPr txBox="1"/>
          <p:nvPr/>
        </p:nvSpPr>
        <p:spPr>
          <a:xfrm>
            <a:off x="1246696" y="1630236"/>
            <a:ext cx="355737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physically meaningful results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efficiency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D35E1-1820-D45D-CEBC-A2AD647AF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728" y="1375290"/>
            <a:ext cx="6535062" cy="743054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EDFEF3-76D1-F17C-4135-832F40BA4D33}"/>
              </a:ext>
            </a:extLst>
          </p:cNvPr>
          <p:cNvSpPr txBox="1"/>
          <p:nvPr/>
        </p:nvSpPr>
        <p:spPr>
          <a:xfrm>
            <a:off x="6869144" y="3921937"/>
            <a:ext cx="3516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reasonable ceiling to prevent runaway solutions..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6157F57-9CE7-31A1-266D-610CC58975B7}"/>
              </a:ext>
            </a:extLst>
          </p:cNvPr>
          <p:cNvSpPr/>
          <p:nvPr/>
        </p:nvSpPr>
        <p:spPr>
          <a:xfrm>
            <a:off x="852870" y="3398311"/>
            <a:ext cx="393826" cy="2514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3625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2B3C786B-1044-79CB-FCBC-16813E8D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5790A0-91CD-252D-C8E5-F566DAD893EC}"/>
              </a:ext>
            </a:extLst>
          </p:cNvPr>
          <p:cNvSpPr txBox="1"/>
          <p:nvPr/>
        </p:nvSpPr>
        <p:spPr>
          <a:xfrm>
            <a:off x="1038609" y="168961"/>
            <a:ext cx="5685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Executing The Solver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D2974-F9E4-E55F-402C-0FD025C70C6A}"/>
              </a:ext>
            </a:extLst>
          </p:cNvPr>
          <p:cNvSpPr txBox="1"/>
          <p:nvPr/>
        </p:nvSpPr>
        <p:spPr>
          <a:xfrm>
            <a:off x="1954244" y="3783438"/>
            <a:ext cx="58638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The model function handle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logistic_model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initial guess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initial_params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t_fit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N_fit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constraints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lower_bounds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upper_bounds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0946609-C967-0FB7-D2BB-04D4B1B57E77}"/>
              </a:ext>
            </a:extLst>
          </p:cNvPr>
          <p:cNvSpPr/>
          <p:nvPr/>
        </p:nvSpPr>
        <p:spPr>
          <a:xfrm>
            <a:off x="873383" y="1131002"/>
            <a:ext cx="393826" cy="2514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369E8E-CA4C-069C-8902-7854F8872D0D}"/>
              </a:ext>
            </a:extLst>
          </p:cNvPr>
          <p:cNvSpPr txBox="1"/>
          <p:nvPr/>
        </p:nvSpPr>
        <p:spPr>
          <a:xfrm>
            <a:off x="1235522" y="3292229"/>
            <a:ext cx="63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lsqcurvefit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takes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89C960-B15F-FBA2-ED16-AA0FBB18653A}"/>
              </a:ext>
            </a:extLst>
          </p:cNvPr>
          <p:cNvSpPr txBox="1"/>
          <p:nvPr/>
        </p:nvSpPr>
        <p:spPr>
          <a:xfrm>
            <a:off x="1235522" y="959978"/>
            <a:ext cx="355737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execute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Levenberg-Marquardt algorithm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our specified instructions.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99E3E06-8D1B-2C8C-DAA0-80B96B6FE227}"/>
              </a:ext>
            </a:extLst>
          </p:cNvPr>
          <p:cNvSpPr/>
          <p:nvPr/>
        </p:nvSpPr>
        <p:spPr>
          <a:xfrm>
            <a:off x="852870" y="3398311"/>
            <a:ext cx="393826" cy="2514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53768-E4E6-5053-1BC5-F826D564E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168" y="972829"/>
            <a:ext cx="6887536" cy="819264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586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03E719B-DC18-B457-41D0-640BD57A7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821" y="1154228"/>
            <a:ext cx="7429311" cy="3448252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8EEED5-6034-E00D-CBD7-1E37FEF878E1}"/>
              </a:ext>
            </a:extLst>
          </p:cNvPr>
          <p:cNvSpPr txBox="1"/>
          <p:nvPr/>
        </p:nvSpPr>
        <p:spPr>
          <a:xfrm>
            <a:off x="2902650" y="102255"/>
            <a:ext cx="5685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Comparison Tab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E5C3A-ADFA-D0EA-5AE6-AD53F6E56584}"/>
              </a:ext>
            </a:extLst>
          </p:cNvPr>
          <p:cNvSpPr txBox="1"/>
          <p:nvPr/>
        </p:nvSpPr>
        <p:spPr>
          <a:xfrm>
            <a:off x="931545" y="1027836"/>
            <a:ext cx="30460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Functionality: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solving for two countries, we move from simple calculation to analytical insight.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"Comparison" dashboard visualizes both solutions simultaneously.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direct comparison of key parameters (K, r, t₀)</a:t>
            </a:r>
            <a:r>
              <a:rPr lang="en-US" dirty="0"/>
              <a:t> and pandemic trajectories.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D20A51AD-62D3-D32A-3C0D-05372736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F8388B-1638-21E9-B5F8-48E9C18B80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5" t="6307" r="64965"/>
          <a:stretch>
            <a:fillRect/>
          </a:stretch>
        </p:blipFill>
        <p:spPr>
          <a:xfrm>
            <a:off x="-261067" y="277091"/>
            <a:ext cx="1142453" cy="58999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9627EC-66B5-7DB1-3E11-97ABB04E8E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51" t="-2568" r="35722" b="2568"/>
          <a:stretch/>
        </p:blipFill>
        <p:spPr>
          <a:xfrm>
            <a:off x="11310215" y="766618"/>
            <a:ext cx="1034819" cy="5145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2D522D-AFB3-0096-3DB6-FB6CDBBAEE26}"/>
              </a:ext>
            </a:extLst>
          </p:cNvPr>
          <p:cNvSpPr txBox="1"/>
          <p:nvPr/>
        </p:nvSpPr>
        <p:spPr>
          <a:xfrm>
            <a:off x="2400723" y="1397675"/>
            <a:ext cx="7214332" cy="337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Visualizing and Validating The Numerical Solution</a:t>
            </a:r>
          </a:p>
          <a:p>
            <a:pPr algn="ctr"/>
            <a:r>
              <a:rPr lang="en-US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 defTabSz="1625519">
              <a:buClr>
                <a:srgbClr val="000000"/>
              </a:buClr>
            </a:pPr>
            <a:r>
              <a:rPr lang="en-US" sz="4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Rajib Khan</a:t>
            </a:r>
            <a:endParaRPr lang="en-GB" sz="4267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/>
            <a:r>
              <a:rPr lang="en-US" sz="4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 2206152</a:t>
            </a:r>
            <a:endParaRPr lang="en-GB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008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724B42CF-BB15-7F0E-AE2A-05ACA222D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A5B7C7-A887-278C-270E-30CB30540CD6}"/>
              </a:ext>
            </a:extLst>
          </p:cNvPr>
          <p:cNvSpPr txBox="1"/>
          <p:nvPr/>
        </p:nvSpPr>
        <p:spPr>
          <a:xfrm>
            <a:off x="1191492" y="868218"/>
            <a:ext cx="65670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9585" indent="-609585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good the curve fit is?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F682936-8E56-E59D-8AD9-D28A8A7E7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4692" y="2171254"/>
            <a:ext cx="9873672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Our Validation Tool: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app's visual dashboard is generated by the 		        </a:t>
            </a:r>
            <a:r>
              <a:rPr lang="en-US" altLang="en-US" sz="24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plotModelResults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Two-Step Validation Process:	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lvl="1" indent="-457189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visual comparison of the model curve against the actual data.</a:t>
            </a:r>
          </a:p>
          <a:p>
            <a:pPr marL="457189" indent="-457189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validation by analyzing the errors, or </a:t>
            </a:r>
            <a:r>
              <a:rPr lang="en-US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"residuals."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539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A859CC4E-53BA-39D7-62F0-74F65886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6C7B60C-0C43-F70B-6157-9EBD38F08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733" y="621257"/>
            <a:ext cx="9685867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Plot: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Blue Circles: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actual, raw data points from </a:t>
            </a:r>
            <a:r>
              <a:rPr lang="en-US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CSV file.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Pink Line: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Our model's curve fitted to the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see how closely the red line tracks the blue circles.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close alignment between the line and the data gives us our first confirmation that the model is a good fit.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Location: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plotModelResults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function.</a:t>
            </a:r>
          </a:p>
        </p:txBody>
      </p:sp>
    </p:spTree>
    <p:extLst>
      <p:ext uri="{BB962C8B-B14F-4D97-AF65-F5344CB8AC3E}">
        <p14:creationId xmlns:p14="http://schemas.microsoft.com/office/powerpoint/2010/main" val="2507008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E2322BF2-96AD-D86E-67DC-5392B1FF7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2DF252-6317-3353-6350-C604CE0DF622}"/>
              </a:ext>
            </a:extLst>
          </p:cNvPr>
          <p:cNvSpPr txBox="1"/>
          <p:nvPr/>
        </p:nvSpPr>
        <p:spPr>
          <a:xfrm>
            <a:off x="1149068" y="1359275"/>
            <a:ext cx="61175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= ( Actual – Predicted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08267-566C-7A70-506E-6CA1E20BC84A}"/>
              </a:ext>
            </a:extLst>
          </p:cNvPr>
          <p:cNvSpPr txBox="1"/>
          <p:nvPr/>
        </p:nvSpPr>
        <p:spPr>
          <a:xfrm>
            <a:off x="1149068" y="819807"/>
            <a:ext cx="61175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Residual:</a:t>
            </a:r>
            <a:endParaRPr lang="en-US" sz="40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210CB80-141B-55ED-EB99-41B82702F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282" y="2221049"/>
            <a:ext cx="10719249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Plot Them?: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hidden patterns in the model's errors.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Want to See: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random scatter of points centered around the zero line.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Want to Avoid: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 clear pattern (like a U-shape or a trend), which would indicate a flaw in our model.</a:t>
            </a:r>
          </a:p>
        </p:txBody>
      </p:sp>
    </p:spTree>
    <p:extLst>
      <p:ext uri="{BB962C8B-B14F-4D97-AF65-F5344CB8AC3E}">
        <p14:creationId xmlns:p14="http://schemas.microsoft.com/office/powerpoint/2010/main" val="1334769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267DBD96-D95D-3338-8822-4180317E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D3F95B-36B1-CFC1-A10C-7FD7ECB8F857}"/>
              </a:ext>
            </a:extLst>
          </p:cNvPr>
          <p:cNvSpPr txBox="1"/>
          <p:nvPr/>
        </p:nvSpPr>
        <p:spPr>
          <a:xfrm>
            <a:off x="987228" y="819808"/>
            <a:ext cx="61175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PDF Report Exporter: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660EF1-4707-E002-498B-A5E922C14158}"/>
              </a:ext>
            </a:extLst>
          </p:cNvPr>
          <p:cNvSpPr txBox="1"/>
          <p:nvPr/>
        </p:nvSpPr>
        <p:spPr>
          <a:xfrm>
            <a:off x="1548275" y="2384267"/>
            <a:ext cx="95216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one-click "Generate PDF Report" button in the GUI.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GeneratePDFReportButtonPushed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command: </a:t>
            </a:r>
            <a:r>
              <a:rPr lang="en-US" sz="24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exportgraphics</a:t>
            </a:r>
            <a:endParaRPr lang="en-US" sz="2400" i="1" u="sng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captures all the plots from our analysis.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010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797F60F-D941-F462-914D-07AEA8C0A032}"/>
              </a:ext>
            </a:extLst>
          </p:cNvPr>
          <p:cNvSpPr txBox="1"/>
          <p:nvPr/>
        </p:nvSpPr>
        <p:spPr>
          <a:xfrm>
            <a:off x="3485584" y="1158844"/>
            <a:ext cx="4906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CA4563-C26F-8209-2193-0A21C0670396}"/>
              </a:ext>
            </a:extLst>
          </p:cNvPr>
          <p:cNvSpPr txBox="1"/>
          <p:nvPr/>
        </p:nvSpPr>
        <p:spPr>
          <a:xfrm>
            <a:off x="2922760" y="1690062"/>
            <a:ext cx="634648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- GUI explanation from</a:t>
            </a:r>
          </a:p>
          <a:p>
            <a:pPr algn="ctr"/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Iftekhar-E-Islam</a:t>
            </a: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 2206153</a:t>
            </a: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rrow: Right 9">
            <a:extLst>
              <a:ext uri="{FF2B5EF4-FFF2-40B4-BE49-F238E27FC236}">
                <a16:creationId xmlns:a16="http://schemas.microsoft.com/office/drawing/2014/main" id="{E31DAD61-CD60-1834-70A4-A57FA6D1BC26}"/>
              </a:ext>
            </a:extLst>
          </p:cNvPr>
          <p:cNvSpPr/>
          <p:nvPr/>
        </p:nvSpPr>
        <p:spPr>
          <a:xfrm>
            <a:off x="1286654" y="1074040"/>
            <a:ext cx="787652" cy="1810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E049C-5166-F5F5-3941-A63EAD3E7D6D}"/>
              </a:ext>
            </a:extLst>
          </p:cNvPr>
          <p:cNvSpPr txBox="1"/>
          <p:nvPr/>
        </p:nvSpPr>
        <p:spPr>
          <a:xfrm>
            <a:off x="2074306" y="914254"/>
            <a:ext cx="894365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 dashboard:</a:t>
            </a:r>
          </a:p>
          <a:p>
            <a:endParaRPr lang="en-US" sz="28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user can see a selected country’s Actual vs Logistic model, Residuals, Growth rate and K parameter Sensitivity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key feature is 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rate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growth rate</a:t>
            </a:r>
            <a:r>
              <a:rPr lang="en-GB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parameter in the logistic model that describes how fast the number of cumulative COVID-19 cases increases over time during the outbreak.</a:t>
            </a:r>
          </a:p>
          <a:p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parameter </a:t>
            </a:r>
            <a:r>
              <a:rPr lang="en-GB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Sensitivity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means how changing the value of K affects the shape and behaviour of the logistic curve, while keeping the other parameters fixed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rrow: Right 8">
            <a:extLst>
              <a:ext uri="{FF2B5EF4-FFF2-40B4-BE49-F238E27FC236}">
                <a16:creationId xmlns:a16="http://schemas.microsoft.com/office/drawing/2014/main" id="{1DA4D403-F858-31CC-94F5-A89ECC5A4FD3}"/>
              </a:ext>
            </a:extLst>
          </p:cNvPr>
          <p:cNvSpPr/>
          <p:nvPr/>
        </p:nvSpPr>
        <p:spPr>
          <a:xfrm>
            <a:off x="1208916" y="1144167"/>
            <a:ext cx="787652" cy="1810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44D658-C018-2AC4-FBD1-A7692C93895E}"/>
                  </a:ext>
                </a:extLst>
              </p:cNvPr>
              <p:cNvSpPr txBox="1"/>
              <p:nvPr/>
            </p:nvSpPr>
            <p:spPr>
              <a:xfrm>
                <a:off x="1996568" y="911313"/>
                <a:ext cx="9179432" cy="5134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800" b="0" i="0" u="sng" strike="noStrike" dirty="0">
                    <a:solidFill>
                      <a:srgbClr val="1B1C1D"/>
                    </a:solidFill>
                    <a:effectLst/>
                    <a:latin typeface="Times New Roman" panose="02020603050405020304" pitchFamily="18" charset="0"/>
                  </a:rPr>
                  <a:t>World dashboard: </a:t>
                </a:r>
              </a:p>
              <a:p>
                <a:r>
                  <a:rPr lang="en-GB" sz="2400" b="0" i="0" u="none" strike="noStrike" dirty="0">
                    <a:solidFill>
                      <a:srgbClr val="1B1C1D"/>
                    </a:solidFill>
                    <a:effectLst/>
                    <a:latin typeface="Times New Roman" panose="02020603050405020304" pitchFamily="18" charset="0"/>
                  </a:rPr>
                  <a:t>Same as country dashboard where it shows data for the whole world.</a:t>
                </a:r>
              </a:p>
              <a:p>
                <a:endParaRPr lang="en-GB" sz="2400" dirty="0">
                  <a:solidFill>
                    <a:srgbClr val="1B1C1D"/>
                  </a:solidFill>
                  <a:latin typeface="Times New Roman" panose="02020603050405020304" pitchFamily="18" charset="0"/>
                </a:endParaRPr>
              </a:p>
              <a:p>
                <a:r>
                  <a:rPr lang="en-GB" sz="2400" dirty="0">
                    <a:solidFill>
                      <a:srgbClr val="1B1C1D"/>
                    </a:solidFill>
                    <a:latin typeface="Times New Roman" panose="02020603050405020304" pitchFamily="18" charset="0"/>
                  </a:rPr>
                  <a:t>In the show </a:t>
                </a:r>
                <a:r>
                  <a:rPr lang="en-GB" sz="2400" dirty="0" err="1">
                    <a:solidFill>
                      <a:srgbClr val="1B1C1D"/>
                    </a:solidFill>
                    <a:latin typeface="Times New Roman" panose="02020603050405020304" pitchFamily="18" charset="0"/>
                  </a:rPr>
                  <a:t>matrics</a:t>
                </a:r>
                <a:r>
                  <a:rPr lang="en-GB" sz="2400" dirty="0">
                    <a:solidFill>
                      <a:srgbClr val="1B1C1D"/>
                    </a:solidFill>
                    <a:latin typeface="Times New Roman" panose="02020603050405020304" pitchFamily="18" charset="0"/>
                  </a:rPr>
                  <a:t> – </a:t>
                </a:r>
              </a:p>
              <a:p>
                <a:r>
                  <a:rPr lang="en-GB" sz="2400" dirty="0">
                    <a:solidFill>
                      <a:srgbClr val="1B1C1D"/>
                    </a:solidFill>
                    <a:latin typeface="Times New Roman" panose="02020603050405020304" pitchFamily="18" charset="0"/>
                  </a:rPr>
                  <a:t>	we can see the max number of infected persons by carrying capacity. </a:t>
                </a:r>
              </a:p>
              <a:p>
                <a:endParaRPr lang="en-GB" sz="2400" dirty="0">
                  <a:solidFill>
                    <a:srgbClr val="1B1C1D"/>
                  </a:solidFill>
                  <a:latin typeface="Times New Roman" panose="02020603050405020304" pitchFamily="18" charset="0"/>
                </a:endParaRPr>
              </a:p>
              <a:p>
                <a:r>
                  <a:rPr lang="en-GB" sz="2400" dirty="0">
                    <a:solidFill>
                      <a:srgbClr val="1B1C1D"/>
                    </a:solidFill>
                    <a:latin typeface="Times New Roman" panose="02020603050405020304" pitchFamily="18" charset="0"/>
                  </a:rPr>
                  <a:t>	RMSE - </a:t>
                </a:r>
                <a:r>
                  <a:rPr lang="en-GB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the average size of the errors between the model’s predictions and the actual COVID-19 case data				</a:t>
                </a:r>
                <a:r>
                  <a:rPr lang="nn-NO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n-NO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𝑅𝑀𝑆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n-NO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n-NO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nn-NO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d>
                                      <m:dPr>
                                        <m:ctrlPr>
                                          <a:rPr lang="en-US" sz="2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𝑝𝑟𝑒𝑑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GB" sz="2400" dirty="0">
                  <a:solidFill>
                    <a:srgbClr val="1B1C1D"/>
                  </a:solidFill>
                  <a:latin typeface="Times New Roman" panose="02020603050405020304" pitchFamily="18" charset="0"/>
                </a:endParaRPr>
              </a:p>
              <a:p>
                <a:endParaRPr lang="en-GB" sz="2400" dirty="0">
                  <a:solidFill>
                    <a:srgbClr val="1B1C1D"/>
                  </a:solidFill>
                  <a:latin typeface="Times New Roman" panose="02020603050405020304" pitchFamily="18" charset="0"/>
                </a:endParaRPr>
              </a:p>
              <a:p>
                <a:r>
                  <a:rPr lang="en-GB" sz="2400" dirty="0">
                    <a:solidFill>
                      <a:srgbClr val="1B1C1D"/>
                    </a:solidFill>
                    <a:latin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how much of the real-world data the model captures. Greater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means better fitted.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44D658-C018-2AC4-FBD1-A7692C938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568" y="911313"/>
                <a:ext cx="9179432" cy="5134483"/>
              </a:xfrm>
              <a:prstGeom prst="rect">
                <a:avLst/>
              </a:prstGeom>
              <a:blipFill>
                <a:blip r:embed="rId3"/>
                <a:stretch>
                  <a:fillRect l="-1395" t="-1186" b="-16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FC9ACB9F-9B14-8C0E-0DA8-B9C733DE1437}"/>
              </a:ext>
            </a:extLst>
          </p:cNvPr>
          <p:cNvSpPr/>
          <p:nvPr/>
        </p:nvSpPr>
        <p:spPr>
          <a:xfrm>
            <a:off x="912332" y="885537"/>
            <a:ext cx="787652" cy="1810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1B832A-6767-5974-5AFC-DC6F54EC0E17}"/>
              </a:ext>
            </a:extLst>
          </p:cNvPr>
          <p:cNvSpPr txBox="1"/>
          <p:nvPr/>
        </p:nvSpPr>
        <p:spPr>
          <a:xfrm>
            <a:off x="1699984" y="666496"/>
            <a:ext cx="95796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i="0" u="sng" strike="noStrike" dirty="0">
                <a:solidFill>
                  <a:srgbClr val="1B1C1D"/>
                </a:solidFill>
                <a:effectLst/>
                <a:latin typeface="Times New Roman" panose="02020603050405020304" pitchFamily="18" charset="0"/>
              </a:rPr>
              <a:t>Date statistics:</a:t>
            </a:r>
          </a:p>
          <a:p>
            <a:r>
              <a:rPr lang="en-GB" sz="1800" b="0" i="0" u="none" strike="noStrike" dirty="0">
                <a:solidFill>
                  <a:srgbClr val="1B1C1D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2400" dirty="0">
                <a:solidFill>
                  <a:srgbClr val="1B1C1D"/>
                </a:solidFill>
                <a:latin typeface="Times New Roman" panose="02020603050405020304" pitchFamily="18" charset="0"/>
              </a:rPr>
              <a:t>I</a:t>
            </a:r>
            <a:r>
              <a:rPr lang="en-GB" sz="2400" i="0" u="none" strike="noStrike" dirty="0">
                <a:solidFill>
                  <a:srgbClr val="1B1C1D"/>
                </a:solidFill>
                <a:effectLst/>
                <a:latin typeface="Times New Roman" panose="02020603050405020304" pitchFamily="18" charset="0"/>
              </a:rPr>
              <a:t>t takes date as input and shows </a:t>
            </a:r>
            <a:r>
              <a:rPr lang="en-GB" sz="2400" i="1" u="none" strike="noStrike" dirty="0">
                <a:solidFill>
                  <a:srgbClr val="1B1C1D"/>
                </a:solidFill>
                <a:effectLst/>
                <a:latin typeface="Times New Roman" panose="02020603050405020304" pitchFamily="18" charset="0"/>
              </a:rPr>
              <a:t>Total Infected </a:t>
            </a:r>
            <a:r>
              <a:rPr lang="en-GB" sz="2400" i="0" u="none" strike="noStrike" dirty="0">
                <a:solidFill>
                  <a:srgbClr val="1B1C1D"/>
                </a:solidFill>
                <a:effectLst/>
                <a:latin typeface="Times New Roman" panose="02020603050405020304" pitchFamily="18" charset="0"/>
              </a:rPr>
              <a:t>and </a:t>
            </a:r>
            <a:r>
              <a:rPr lang="en-GB" sz="2400" i="1" dirty="0">
                <a:solidFill>
                  <a:srgbClr val="1B1C1D"/>
                </a:solidFill>
                <a:latin typeface="Times New Roman" panose="02020603050405020304" pitchFamily="18" charset="0"/>
              </a:rPr>
              <a:t>T</a:t>
            </a:r>
            <a:r>
              <a:rPr lang="en-GB" sz="2400" i="1" u="none" strike="noStrike" dirty="0">
                <a:solidFill>
                  <a:srgbClr val="1B1C1D"/>
                </a:solidFill>
                <a:effectLst/>
                <a:latin typeface="Times New Roman" panose="02020603050405020304" pitchFamily="18" charset="0"/>
              </a:rPr>
              <a:t>otal Deaths </a:t>
            </a:r>
            <a:endParaRPr lang="en-GB" sz="2400" dirty="0">
              <a:solidFill>
                <a:srgbClr val="1B1C1D"/>
              </a:solidFill>
              <a:latin typeface="Times New Roman" panose="02020603050405020304" pitchFamily="18" charset="0"/>
            </a:endParaRPr>
          </a:p>
          <a:p>
            <a:r>
              <a:rPr lang="en-GB" sz="2400" dirty="0">
                <a:solidFill>
                  <a:srgbClr val="1B1C1D"/>
                </a:solidFill>
                <a:latin typeface="Times New Roman" panose="02020603050405020304" pitchFamily="18" charset="0"/>
              </a:rPr>
              <a:t>The code </a:t>
            </a:r>
            <a:endParaRPr lang="en-GB" dirty="0"/>
          </a:p>
          <a:p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showDateStats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(app)</a:t>
            </a:r>
          </a:p>
          <a:p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dtxt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app.AdvDateField.Value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		</a:t>
            </a:r>
            <a:r>
              <a:rPr lang="en-GB" sz="1600" i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20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Reads the </a:t>
            </a:r>
            <a:r>
              <a:rPr lang="en-GB" sz="2000" i="1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text input </a:t>
            </a:r>
            <a:r>
              <a:rPr lang="en-GB" sz="20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from the date field]</a:t>
            </a:r>
            <a:endParaRPr lang="en-GB" sz="1600" i="1" dirty="0">
              <a:solidFill>
                <a:schemeClr val="bg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</a:p>
          <a:p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= datetime(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dtxt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'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InputFormat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yyyy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-MM-dd’);</a:t>
            </a:r>
            <a:r>
              <a:rPr lang="en-GB" b="1" dirty="0"/>
              <a:t> </a:t>
            </a:r>
            <a:r>
              <a:rPr lang="en-GB" i="1" dirty="0">
                <a:highlight>
                  <a:srgbClr val="FFFF00"/>
                </a:highlight>
              </a:rPr>
              <a:t>[</a:t>
            </a:r>
            <a:r>
              <a:rPr lang="en-GB" sz="20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input string into a </a:t>
            </a:r>
            <a:r>
              <a:rPr lang="en-GB" sz="2000" i="1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  <a:r>
              <a:rPr lang="en-GB" sz="20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object]</a:t>
            </a:r>
            <a:endParaRPr lang="en-GB" sz="1600" i="1" dirty="0">
              <a:solidFill>
                <a:schemeClr val="bg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Catch	</a:t>
            </a:r>
            <a:r>
              <a:rPr lang="en-GB" sz="1600" i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20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If the conversion fails catch block runs. ]</a:t>
            </a:r>
          </a:p>
          <a:p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~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app.AdvResultLabel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app.AdvResultLabel.Text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'Use YYYY-MM-DD format';</a:t>
            </a:r>
          </a:p>
          <a:p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app.AdvResultLabel.FontSize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20;</a:t>
            </a:r>
          </a:p>
          <a:p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app.isDarkMode</a:t>
            </a:r>
            <a:endParaRPr lang="en-GB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app.AdvResultLabel.FontColor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[1 1 1];</a:t>
            </a:r>
          </a:p>
          <a:p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app.AdvResultLabel.FontColor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[0.1 0.1 0.1];</a:t>
            </a:r>
          </a:p>
          <a:p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return;</a:t>
            </a:r>
          </a:p>
          <a:p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rrow: Right 9">
            <a:extLst>
              <a:ext uri="{FF2B5EF4-FFF2-40B4-BE49-F238E27FC236}">
                <a16:creationId xmlns:a16="http://schemas.microsoft.com/office/drawing/2014/main" id="{7A4D282A-4671-29E9-A7A8-E65EE16D01E3}"/>
              </a:ext>
            </a:extLst>
          </p:cNvPr>
          <p:cNvSpPr/>
          <p:nvPr/>
        </p:nvSpPr>
        <p:spPr>
          <a:xfrm>
            <a:off x="1178013" y="988813"/>
            <a:ext cx="787652" cy="1810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6B62E-CB4A-F02E-91BE-2B7ED02C8DF1}"/>
              </a:ext>
            </a:extLst>
          </p:cNvPr>
          <p:cNvSpPr txBox="1"/>
          <p:nvPr/>
        </p:nvSpPr>
        <p:spPr>
          <a:xfrm>
            <a:off x="1965665" y="804147"/>
            <a:ext cx="887166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i="0" u="sng" strike="noStrike" dirty="0">
                <a:solidFill>
                  <a:srgbClr val="1B1C1D"/>
                </a:solidFill>
                <a:effectLst/>
                <a:latin typeface="Times New Roman" panose="02020603050405020304" pitchFamily="18" charset="0"/>
              </a:rPr>
              <a:t>Compare countries:</a:t>
            </a:r>
          </a:p>
          <a:p>
            <a:endParaRPr lang="en-GB" sz="2800" dirty="0"/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compare two countries and observes the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logistic parameters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most fitted curve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saturations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9DBF61F4-1C69-8F7F-0CEB-094B58C61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24268DB7-3FBE-EBC7-1D1F-E431E32E5EF6}"/>
              </a:ext>
            </a:extLst>
          </p:cNvPr>
          <p:cNvSpPr/>
          <p:nvPr/>
        </p:nvSpPr>
        <p:spPr>
          <a:xfrm>
            <a:off x="1185332" y="1070537"/>
            <a:ext cx="787652" cy="1810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361E53-6953-4B3A-3084-A5529B3526A0}"/>
              </a:ext>
            </a:extLst>
          </p:cNvPr>
          <p:cNvSpPr txBox="1"/>
          <p:nvPr/>
        </p:nvSpPr>
        <p:spPr>
          <a:xfrm>
            <a:off x="1925257" y="795336"/>
            <a:ext cx="920301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Saturation Date:</a:t>
            </a:r>
          </a:p>
          <a:p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Finds saturation date for the first country</a:t>
            </a:r>
          </a:p>
          <a:p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data=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extractCountryData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app,c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	</a:t>
            </a:r>
            <a:r>
              <a:rPr lang="en-GB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takes country-specific COVID-19 data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pars=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fitLogistic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app,data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	</a:t>
            </a:r>
            <a:r>
              <a:rPr lang="en-GB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fits the logistic model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pars.K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	</a:t>
            </a:r>
            <a:r>
              <a:rPr lang="en-GB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Defines the logistic function inline</a:t>
            </a:r>
            <a:r>
              <a:rPr lang="en-GB" sz="1200" dirty="0">
                <a:highlight>
                  <a:srgbClr val="FFFF00"/>
                </a:highlight>
              </a:rPr>
              <a:t>	</a:t>
            </a:r>
            <a:endParaRPr lang="en-GB" sz="12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logistic=@(p,t) p(1)./(1+exp(-p(2)*(t-p(3))));</a:t>
            </a:r>
          </a:p>
          <a:p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t_future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linspace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max(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data.TimeDays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)*2, 2000);	</a:t>
            </a:r>
            <a:r>
              <a:rPr lang="en-GB" sz="1200" dirty="0">
                <a:highlight>
                  <a:srgbClr val="FFFF00"/>
                </a:highlight>
              </a:rPr>
              <a:t> </a:t>
            </a:r>
            <a:r>
              <a:rPr lang="en-GB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Extends time into the future to simulate the full curve (2× current duration)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 = logistic([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pars.K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pars.r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pars.t0],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t_future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	</a:t>
            </a:r>
            <a:r>
              <a:rPr lang="en-GB" sz="1200" i="1" dirty="0"/>
              <a:t> </a:t>
            </a:r>
            <a:r>
              <a:rPr lang="en-GB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Computes the logistic curve values over time.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sat95 = 0.95*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pars.K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	</a:t>
            </a:r>
            <a:r>
              <a:rPr lang="en-GB" sz="1200" dirty="0">
                <a:highlight>
                  <a:srgbClr val="FFFF00"/>
                </a:highlight>
              </a:rPr>
              <a:t> </a:t>
            </a:r>
            <a:r>
              <a:rPr lang="en-GB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95% saturation threshold.</a:t>
            </a:r>
          </a:p>
          <a:p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find(curve&gt;=sat95,1);	</a:t>
            </a:r>
            <a:r>
              <a:rPr lang="en-GB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Finds the first time index when curve reaches 95% of K.</a:t>
            </a:r>
          </a:p>
          <a:p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date_sat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data.Date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(1)+days(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t_future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	</a:t>
            </a:r>
            <a:r>
              <a:rPr lang="en-GB" sz="1200" dirty="0"/>
              <a:t> </a:t>
            </a:r>
            <a:r>
              <a:rPr lang="en-GB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predicted time index back into a calendar date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~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app.AdvResultLabel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app.AdvResultLabel.Text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sprintf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('%s\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nSaturation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(95%%)=%.0f\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nPredicted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Date: %s',c,sat95,datestr(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date_sat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app.AdvResultLabel.FontSize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20;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app.isDarkMode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app.AdvResultLabel.FontColor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 1 1];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app.AdvResultLabel.FontColor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[0.1 0.1 0.1];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25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AEEAB016-FB17-1E0A-D6C4-1C55367BB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88AEAF-23FF-A27A-4C7E-923A0EB20A6C}"/>
              </a:ext>
            </a:extLst>
          </p:cNvPr>
          <p:cNvSpPr txBox="1"/>
          <p:nvPr/>
        </p:nvSpPr>
        <p:spPr>
          <a:xfrm>
            <a:off x="1846235" y="875529"/>
            <a:ext cx="9380061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u="sng" dirty="0">
                <a:solidFill>
                  <a:srgbClr val="1B1C1D"/>
                </a:solidFill>
                <a:latin typeface="Times New Roman" panose="02020603050405020304" pitchFamily="18" charset="0"/>
              </a:rPr>
              <a:t>Cr</a:t>
            </a:r>
            <a:r>
              <a:rPr lang="en-GB" sz="2800" b="0" i="0" u="sng" strike="noStrike" dirty="0">
                <a:solidFill>
                  <a:srgbClr val="1B1C1D"/>
                </a:solidFill>
                <a:effectLst/>
                <a:latin typeface="Times New Roman" panose="02020603050405020304" pitchFamily="18" charset="0"/>
              </a:rPr>
              <a:t>itics and understand the limitations:</a:t>
            </a:r>
          </a:p>
          <a:p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the logistic growth model provides a simple and interpretable way to </a:t>
            </a: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cumulative spread of COVID-19, it comes with important limitations.</a:t>
            </a:r>
          </a:p>
          <a:p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Single-Wave Assumption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Parameters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Adaptability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Ignores External Factors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Vaccination campaigns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 variants (e.g., Delta, Omicron)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 restrictions or reopening policies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Oversimplification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Assumes Accurate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Fails in Early/Flat Regions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1B39C5B-8AAD-3B4B-5C68-A51A772A23C2}"/>
              </a:ext>
            </a:extLst>
          </p:cNvPr>
          <p:cNvSpPr/>
          <p:nvPr/>
        </p:nvSpPr>
        <p:spPr>
          <a:xfrm>
            <a:off x="1058584" y="1046605"/>
            <a:ext cx="787652" cy="1810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6C4C83-F2D5-262D-F82D-EC1CA324C800}"/>
              </a:ext>
            </a:extLst>
          </p:cNvPr>
          <p:cNvSpPr txBox="1"/>
          <p:nvPr/>
        </p:nvSpPr>
        <p:spPr>
          <a:xfrm>
            <a:off x="1846235" y="5059141"/>
            <a:ext cx="92352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its predictions may lose accuracy in highly dynamic or unpredictable settings. Residual patterns and parameter sensitivity help reveal these limitations, highlighting the need for caution when interpreting long-term forecasts.</a:t>
            </a:r>
          </a:p>
        </p:txBody>
      </p:sp>
    </p:spTree>
    <p:extLst>
      <p:ext uri="{BB962C8B-B14F-4D97-AF65-F5344CB8AC3E}">
        <p14:creationId xmlns:p14="http://schemas.microsoft.com/office/powerpoint/2010/main" val="7868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13E1BD5C-C2DC-AA54-9D13-01197510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FEDC7E3E-228D-C361-2BDB-375D51DB8BA0}"/>
              </a:ext>
            </a:extLst>
          </p:cNvPr>
          <p:cNvSpPr/>
          <p:nvPr/>
        </p:nvSpPr>
        <p:spPr>
          <a:xfrm>
            <a:off x="1103851" y="971975"/>
            <a:ext cx="787652" cy="1810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F41BE7-D22E-0F5E-DFEB-0DF32A52FFC1}"/>
              </a:ext>
            </a:extLst>
          </p:cNvPr>
          <p:cNvSpPr txBox="1"/>
          <p:nvPr/>
        </p:nvSpPr>
        <p:spPr>
          <a:xfrm>
            <a:off x="1991092" y="803274"/>
            <a:ext cx="559504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Tentative way to overcome some limitations</a:t>
            </a:r>
          </a:p>
          <a:p>
            <a:endParaRPr lang="en-GB" sz="24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Multi-Wave Models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Incorporate External Factors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to Epidemiological Models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Modelling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53CCA-4A02-EC9C-C4CC-F38E4C795A03}"/>
              </a:ext>
            </a:extLst>
          </p:cNvPr>
          <p:cNvSpPr txBox="1"/>
          <p:nvPr/>
        </p:nvSpPr>
        <p:spPr>
          <a:xfrm>
            <a:off x="1991092" y="4282288"/>
            <a:ext cx="83110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these models and factors will lead to more accurate and realistic predictions.</a:t>
            </a:r>
          </a:p>
        </p:txBody>
      </p:sp>
    </p:spTree>
    <p:extLst>
      <p:ext uri="{BB962C8B-B14F-4D97-AF65-F5344CB8AC3E}">
        <p14:creationId xmlns:p14="http://schemas.microsoft.com/office/powerpoint/2010/main" val="315599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7AC06675-C16A-CFA1-FD4E-5EBEC417D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8918C-0EBE-99C1-17FE-684894C25D25}"/>
              </a:ext>
            </a:extLst>
          </p:cNvPr>
          <p:cNvSpPr txBox="1"/>
          <p:nvPr/>
        </p:nvSpPr>
        <p:spPr>
          <a:xfrm>
            <a:off x="3038193" y="2551837"/>
            <a:ext cx="61156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Berlin Sans FB" panose="020E0602020502020306" pitchFamily="34" charset="0"/>
              </a:rPr>
              <a:t>The end</a:t>
            </a:r>
          </a:p>
          <a:p>
            <a:pPr algn="ctr"/>
            <a:r>
              <a:rPr lang="en-US" sz="5400" dirty="0">
                <a:solidFill>
                  <a:schemeClr val="bg1"/>
                </a:solidFill>
                <a:latin typeface="Berlin Sans FB" panose="020E0602020502020306" pitchFamily="34" charset="0"/>
              </a:rPr>
              <a:t>Thank you</a:t>
            </a:r>
            <a:endParaRPr lang="en-GB" sz="54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76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19F4AD17-66CF-557F-55F7-4E0DD62D2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E2E5EC-1A31-A014-8D32-3EE3312E24B0}"/>
              </a:ext>
            </a:extLst>
          </p:cNvPr>
          <p:cNvSpPr txBox="1"/>
          <p:nvPr/>
        </p:nvSpPr>
        <p:spPr>
          <a:xfrm>
            <a:off x="2793750" y="1443841"/>
            <a:ext cx="61156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erlin Sans FB" panose="020E0602020502020306" pitchFamily="34" charset="0"/>
              </a:rPr>
              <a:t>For any queries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Berlin Sans FB" panose="020E0602020502020306" pitchFamily="34" charset="0"/>
              </a:rPr>
              <a:t>Contact –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Berlin Sans FB" panose="020E0602020502020306" pitchFamily="34" charset="0"/>
                <a:hlinkClick r:id="rId3"/>
              </a:rPr>
              <a:t>2206136@eee.buet.ac.bd</a:t>
            </a:r>
            <a:endParaRPr lang="en-US" sz="36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algn="ctr"/>
            <a:r>
              <a:rPr lang="en-GB" sz="3600" dirty="0">
                <a:solidFill>
                  <a:schemeClr val="bg1"/>
                </a:solidFill>
                <a:latin typeface="Berlin Sans FB" panose="020E0602020502020306" pitchFamily="34" charset="0"/>
                <a:hlinkClick r:id="rId4"/>
              </a:rPr>
              <a:t>2206147@eee.buet.ac.bd</a:t>
            </a:r>
            <a:endParaRPr lang="en-GB" sz="36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algn="ctr"/>
            <a:r>
              <a:rPr lang="en-GB" sz="3600" dirty="0">
                <a:solidFill>
                  <a:schemeClr val="bg1"/>
                </a:solidFill>
                <a:latin typeface="Berlin Sans FB" panose="020E0602020502020306" pitchFamily="34" charset="0"/>
                <a:hlinkClick r:id="rId5"/>
              </a:rPr>
              <a:t>2206152@eee.buet.ac.bd</a:t>
            </a:r>
            <a:endParaRPr lang="en-GB" sz="36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algn="ctr"/>
            <a:r>
              <a:rPr lang="en-GB" sz="3600" dirty="0">
                <a:solidFill>
                  <a:schemeClr val="bg1"/>
                </a:solidFill>
                <a:latin typeface="Berlin Sans FB" panose="020E0602020502020306" pitchFamily="34" charset="0"/>
                <a:hlinkClick r:id="rId6"/>
              </a:rPr>
              <a:t>2206153@eee.buet.ac.bd</a:t>
            </a:r>
            <a:endParaRPr lang="en-GB" sz="36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algn="ctr"/>
            <a:endParaRPr lang="en-GB" sz="36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44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inal Year Project Thesis Defense by Slidesgo">
  <a:themeElements>
    <a:clrScheme name="Simple Light">
      <a:dk1>
        <a:srgbClr val="2E125F"/>
      </a:dk1>
      <a:lt1>
        <a:srgbClr val="222020"/>
      </a:lt1>
      <a:dk2>
        <a:srgbClr val="EFEEF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220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1553</Words>
  <Application>Microsoft Office PowerPoint</Application>
  <PresentationFormat>Widescreen</PresentationFormat>
  <Paragraphs>217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1" baseType="lpstr">
      <vt:lpstr>Arial</vt:lpstr>
      <vt:lpstr>Berlin Sans FB</vt:lpstr>
      <vt:lpstr>Calibri</vt:lpstr>
      <vt:lpstr>Cambria Math</vt:lpstr>
      <vt:lpstr>Courier New</vt:lpstr>
      <vt:lpstr>Hind</vt:lpstr>
      <vt:lpstr>Hind Light</vt:lpstr>
      <vt:lpstr>Lato</vt:lpstr>
      <vt:lpstr>Loved by the King</vt:lpstr>
      <vt:lpstr>Mulish SemiBold</vt:lpstr>
      <vt:lpstr>Nunito Light</vt:lpstr>
      <vt:lpstr>Playfair Display Medium</vt:lpstr>
      <vt:lpstr>PT Sans</vt:lpstr>
      <vt:lpstr>Roboto Condensed Light</vt:lpstr>
      <vt:lpstr>Times New Roman</vt:lpstr>
      <vt:lpstr>Wingdings</vt:lpstr>
      <vt:lpstr>Final Year Project Thesis Defense by Slidesgo</vt:lpstr>
      <vt:lpstr>Modeling the Spread of COVID-19 Using a Logistic Growth Model in MATLAB</vt:lpstr>
      <vt:lpstr>PowerPoint Presentation</vt:lpstr>
      <vt:lpstr>Logistic Growth Model Basics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the Spread of COVID-19 Using a Logistic Growth Model in MATLAB</dc:title>
  <dc:creator>2206153 - Iftekhar-E-Islam</dc:creator>
  <cp:lastModifiedBy>2206147 - S. M. Sindid Islam Mahodi</cp:lastModifiedBy>
  <cp:revision>13</cp:revision>
  <dcterms:created xsi:type="dcterms:W3CDTF">2025-07-25T17:10:49Z</dcterms:created>
  <dcterms:modified xsi:type="dcterms:W3CDTF">2025-07-31T05:17:15Z</dcterms:modified>
</cp:coreProperties>
</file>